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99" r:id="rId2"/>
    <p:sldId id="311" r:id="rId3"/>
    <p:sldId id="312" r:id="rId4"/>
    <p:sldId id="313" r:id="rId5"/>
    <p:sldId id="314" r:id="rId6"/>
    <p:sldId id="315" r:id="rId7"/>
    <p:sldId id="316" r:id="rId8"/>
    <p:sldId id="317" r:id="rId9"/>
    <p:sldId id="318" r:id="rId10"/>
    <p:sldId id="308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622"/>
  </p:normalViewPr>
  <p:slideViewPr>
    <p:cSldViewPr snapToGrid="0">
      <p:cViewPr>
        <p:scale>
          <a:sx n="88" d="100"/>
          <a:sy n="88" d="100"/>
        </p:scale>
        <p:origin x="496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8F550-3820-E3EF-ACB4-6C026FFE2B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1E82A67-ABE9-4FA8-4AC7-08C0C54F69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AC0B9F-920C-B7BC-361C-563236813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5F04F-12A8-BB49-A874-7C13998915EB}" type="datetimeFigureOut">
              <a:rPr kumimoji="1" lang="ko-KR" altLang="en-US" smtClean="0"/>
              <a:t>2026. 4. 8.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1AE1FB-C547-83A5-0A96-389E32ED5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8CB499-EEC2-61D5-0BE1-E92FF7D3B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0D02-CCF0-044A-9396-83FEF839D14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78708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8434C9-80DA-1D8A-8552-FD3D48246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772DD5-0116-175D-24B9-D30D29741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23DF0E-A87A-0204-8468-356A6C9C5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5F04F-12A8-BB49-A874-7C13998915EB}" type="datetimeFigureOut">
              <a:rPr kumimoji="1" lang="ko-KR" altLang="en-US" smtClean="0"/>
              <a:t>2026. 4. 8.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3FD18C-DAE1-9400-B6E1-F8545BBA3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2766CB-8165-2327-DE40-8EE008120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0D02-CCF0-044A-9396-83FEF839D14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8099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8D0863-8D4A-AC16-240D-BE2C130CB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6CADB90-FD4A-BD6D-F550-7D18C5693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E90E22-BA33-54B8-1A34-3D10DEAC8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5F04F-12A8-BB49-A874-7C13998915EB}" type="datetimeFigureOut">
              <a:rPr kumimoji="1" lang="ko-KR" altLang="en-US" smtClean="0"/>
              <a:t>2026. 4. 8.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BDD4E6-E755-5796-2C45-0DD2423B8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2A019E-2B63-E4ED-C989-4734922CE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0D02-CCF0-044A-9396-83FEF839D14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84399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59B9B6-80C5-D35F-6245-2C6A91D8C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0975F9-1A46-5B7C-0F7A-7F492A093A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F114C8B-6FE4-07EA-3269-CB8D2122CA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9213F8-A27A-C584-0269-CE25E76D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5F04F-12A8-BB49-A874-7C13998915EB}" type="datetimeFigureOut">
              <a:rPr kumimoji="1" lang="ko-KR" altLang="en-US" smtClean="0"/>
              <a:t>2026. 4. 8.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F78081-F2EB-BDB7-F6FE-E018CFA97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484C0E-9314-EE6E-6C2E-76E568B56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0D02-CCF0-044A-9396-83FEF839D14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15712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BA51F8-81A1-19F2-6805-4E39AA6B8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03C063-0A11-F765-59B8-1E4CB27CE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D052DF-1AC3-33B8-E620-A5522A7EA8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B826A1-B589-79F9-3ECC-B525B44C7A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2BCDF0E-F512-AE3C-AF0A-2D0B29B5F3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06F2A38-2320-E6E5-A105-C9F66B927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5F04F-12A8-BB49-A874-7C13998915EB}" type="datetimeFigureOut">
              <a:rPr kumimoji="1" lang="ko-KR" altLang="en-US" smtClean="0"/>
              <a:t>2026. 4. 8.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EC48AC7-4386-3391-1FB6-EEB8459C1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BAE2228-36D1-C985-8DA9-2FA7913D0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0D02-CCF0-044A-9396-83FEF839D14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83796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40582D-878A-F2D3-CB5C-19DCE7B70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0421A9F-277D-A457-8F09-31434A095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5F04F-12A8-BB49-A874-7C13998915EB}" type="datetimeFigureOut">
              <a:rPr kumimoji="1" lang="ko-KR" altLang="en-US" smtClean="0"/>
              <a:t>2026. 4. 8.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AD506C0-4DCD-43DE-8149-0814C0B06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C25101C-0B92-AE1E-8653-84BF6F6FF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0D02-CCF0-044A-9396-83FEF839D14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84214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8F030B9-5894-F87F-2724-9A1141F17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5F04F-12A8-BB49-A874-7C13998915EB}" type="datetimeFigureOut">
              <a:rPr kumimoji="1" lang="ko-KR" altLang="en-US" smtClean="0"/>
              <a:t>2026. 4. 8.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AA6E71F-D3C2-7178-C46A-B9BCA6E5F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A9E33A-6C73-103C-A240-53724C91F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0D02-CCF0-044A-9396-83FEF839D14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49666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390EF2-2C42-7B66-B29A-EA83945F2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1AE894-2969-2121-586D-A27E70E5C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C0B53AC-EE72-262B-D716-CA48990D58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DB98583-711D-076A-E127-2949BA655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5F04F-12A8-BB49-A874-7C13998915EB}" type="datetimeFigureOut">
              <a:rPr kumimoji="1" lang="ko-KR" altLang="en-US" smtClean="0"/>
              <a:t>2026. 4. 8.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361637-29C6-FD1C-ADE9-96504BCB0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1CD8A3-962C-6917-E8A0-61B2704F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0D02-CCF0-044A-9396-83FEF839D14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10039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BF39A-2164-C764-AF38-9D1084E16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8703D70-05E5-54D1-849B-521AF9FE5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27888F0-C95B-B77E-E381-DD972D2D70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8AB935-72E8-0A29-55FC-3040C3266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5F04F-12A8-BB49-A874-7C13998915EB}" type="datetimeFigureOut">
              <a:rPr kumimoji="1" lang="ko-KR" altLang="en-US" smtClean="0"/>
              <a:t>2026. 4. 8.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5757E9B-FC40-EEC5-3729-3DC92D477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C0BDDE1-0AA0-B8FD-5553-0531D21D0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0D02-CCF0-044A-9396-83FEF839D14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63541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EE0A3E-B6A7-8D52-D097-987FAB24F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7EDB36F-7C7B-606B-14CA-A54CD2953A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C01AC4-0387-B0D6-DB2E-AE83DE303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5F04F-12A8-BB49-A874-7C13998915EB}" type="datetimeFigureOut">
              <a:rPr kumimoji="1" lang="ko-KR" altLang="en-US" smtClean="0"/>
              <a:t>2026. 4. 8.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839662-2CC0-2BF3-4D25-D05EB0091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A3986A-4E86-F9AB-23FB-6A32C368D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0D02-CCF0-044A-9396-83FEF839D14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44637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1340E4-8BE8-80C3-E69A-923DEC57F4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A1C6569-A089-5895-2544-20FCFB6A99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FCB566-C458-180F-EF2D-F811E3139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5F04F-12A8-BB49-A874-7C13998915EB}" type="datetimeFigureOut">
              <a:rPr kumimoji="1" lang="ko-KR" altLang="en-US" smtClean="0"/>
              <a:t>2026. 4. 8.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0B0AD-93B3-48B8-99E4-D663C305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6A0853-8016-B648-4E19-3D4986D6F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0D02-CCF0-044A-9396-83FEF839D14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59356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0DFF5EA-724E-8AA2-0958-CC4484C5C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32BCF7-BCEC-CCD1-5281-E3D8C7073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B8EC9C-29B4-89BF-ECAF-5844BF6B4C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95F04F-12A8-BB49-A874-7C13998915EB}" type="datetimeFigureOut">
              <a:rPr kumimoji="1" lang="ko-KR" altLang="en-US" smtClean="0"/>
              <a:t>2026. 4. 8.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789AAC-4890-B4AE-133F-4FD946E54E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9A8CA3-0D4A-583B-BF37-08E825A70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C70D02-CCF0-044A-9396-83FEF839D149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sp>
        <p:nvSpPr>
          <p:cNvPr id="900" name="BottomBar"/>
          <p:cNvSpPr/>
          <p:nvPr userDrawn="1"/>
        </p:nvSpPr>
        <p:spPr>
          <a:xfrm>
            <a:off x="0" y="6705600"/>
            <a:ext cx="12192000" cy="152400"/>
          </a:xfrm>
          <a:prstGeom prst="rect">
            <a:avLst/>
          </a:prstGeom>
          <a:gradFill>
            <a:gsLst>
              <a:gs pos="0">
                <a:srgbClr val="57CDFF"/>
              </a:gs>
              <a:gs pos="100000">
                <a:srgbClr val="3B5CC6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00" name="BottomBar"/>
          <p:cNvSpPr/>
          <p:nvPr userDrawn="1"/>
        </p:nvSpPr>
        <p:spPr>
          <a:xfrm>
            <a:off x="0" y="6583050"/>
            <a:ext cx="12192000" cy="274950"/>
          </a:xfrm>
          <a:prstGeom prst="rect">
            <a:avLst/>
          </a:prstGeom>
          <a:gradFill>
            <a:gsLst>
              <a:gs pos="0">
                <a:srgbClr val="57CDFF"/>
              </a:gs>
              <a:gs pos="100000">
                <a:srgbClr val="3B5CC6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115325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rgbClr val="1E293B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E293B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6E2AA7D-0EA2-D947-933E-6C0700F3C594}"/>
              </a:ext>
            </a:extLst>
          </p:cNvPr>
          <p:cNvSpPr/>
          <p:nvPr/>
        </p:nvSpPr>
        <p:spPr>
          <a:xfrm>
            <a:off x="0" y="0"/>
            <a:ext cx="4876800" cy="6858000"/>
          </a:xfrm>
          <a:prstGeom prst="rect">
            <a:avLst/>
          </a:prstGeom>
          <a:solidFill>
            <a:srgbClr val="3B5CC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CBF05B44-F5DB-4546-B0F1-FC1800D6FA9B}"/>
              </a:ext>
            </a:extLst>
          </p:cNvPr>
          <p:cNvSpPr/>
          <p:nvPr/>
        </p:nvSpPr>
        <p:spPr>
          <a:xfrm>
            <a:off x="3302000" y="508000"/>
            <a:ext cx="2032000" cy="2032000"/>
          </a:xfrm>
          <a:prstGeom prst="ellipse">
            <a:avLst/>
          </a:prstGeom>
          <a:solidFill>
            <a:srgbClr val="4A6B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F6536421-AE41-9249-A2EB-EC1265ED5B14}"/>
              </a:ext>
            </a:extLst>
          </p:cNvPr>
          <p:cNvSpPr/>
          <p:nvPr/>
        </p:nvSpPr>
        <p:spPr>
          <a:xfrm>
            <a:off x="-269461" y="4572000"/>
            <a:ext cx="1524000" cy="1524000"/>
          </a:xfrm>
          <a:prstGeom prst="ellipse">
            <a:avLst/>
          </a:prstGeom>
          <a:solidFill>
            <a:srgbClr val="4A6B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182BAB-1C58-F64F-8704-31E0C7A4B49D}"/>
              </a:ext>
            </a:extLst>
          </p:cNvPr>
          <p:cNvSpPr txBox="1"/>
          <p:nvPr/>
        </p:nvSpPr>
        <p:spPr>
          <a:xfrm>
            <a:off x="1574800" y="1836678"/>
            <a:ext cx="1270000" cy="2862322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" altLang="ko-KR" sz="18000" b="1" dirty="0">
                <a:solidFill>
                  <a:srgbClr val="FFFFFF"/>
                </a:solidFill>
              </a:rPr>
              <a:t>Q</a:t>
            </a:r>
            <a:endParaRPr lang="ko-KR" altLang="en-US" sz="18000" b="1" dirty="0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26646-CB85-B948-A12F-6CF3813D666C}"/>
              </a:ext>
            </a:extLst>
          </p:cNvPr>
          <p:cNvSpPr txBox="1"/>
          <p:nvPr/>
        </p:nvSpPr>
        <p:spPr>
          <a:xfrm>
            <a:off x="5334000" y="1524000"/>
            <a:ext cx="635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4200" b="1">
                <a:solidFill>
                  <a:srgbClr val="3B5CC6"/>
                </a:solidFill>
              </a:rPr>
              <a:t>Quest-On</a:t>
            </a:r>
            <a:endParaRPr lang="ko-KR" altLang="en-US" sz="4200" b="1">
              <a:solidFill>
                <a:srgbClr val="3B5CC6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78BC60-EC67-D947-8101-5EB522E7EDDD}"/>
              </a:ext>
            </a:extLst>
          </p:cNvPr>
          <p:cNvSpPr txBox="1"/>
          <p:nvPr/>
        </p:nvSpPr>
        <p:spPr>
          <a:xfrm>
            <a:off x="5334000" y="2413000"/>
            <a:ext cx="635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800" b="1">
                <a:solidFill>
                  <a:srgbClr val="1E293B"/>
                </a:solidFill>
              </a:rPr>
              <a:t>Student Exam Guide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523191-27FD-5D4D-B0F3-5959847B6D24}"/>
              </a:ext>
            </a:extLst>
          </p:cNvPr>
          <p:cNvSpPr txBox="1"/>
          <p:nvPr/>
        </p:nvSpPr>
        <p:spPr>
          <a:xfrm>
            <a:off x="5334000" y="3302000"/>
            <a:ext cx="6223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600">
                <a:solidFill>
                  <a:srgbClr val="64748B"/>
                </a:solidFill>
              </a:rPr>
              <a:t>Next-generation AI-powered assessment system</a:t>
            </a:r>
          </a:p>
          <a:p>
            <a:pPr algn="l"/>
            <a:r>
              <a:rPr lang="en-US" altLang="ko-KR" sz="1600">
                <a:solidFill>
                  <a:srgbClr val="64748B"/>
                </a:solidFill>
              </a:rPr>
              <a:t>This guide walks you through the exam process.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D0CCD1AF-D6DA-3C41-AC21-65078865E79C}"/>
              </a:ext>
            </a:extLst>
          </p:cNvPr>
          <p:cNvSpPr/>
          <p:nvPr/>
        </p:nvSpPr>
        <p:spPr>
          <a:xfrm>
            <a:off x="5334000" y="4445000"/>
            <a:ext cx="2540000" cy="508000"/>
          </a:xfrm>
          <a:prstGeom prst="roundRect">
            <a:avLst/>
          </a:prstGeom>
          <a:solidFill>
            <a:srgbClr val="EEF2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1400" b="1" dirty="0">
                <a:solidFill>
                  <a:srgbClr val="3B5CC6"/>
                </a:solidFill>
              </a:rPr>
              <a:t>2026 Spring Semester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6E07FF-7FD0-8D4E-AAC4-793166F1EC20}"/>
              </a:ext>
            </a:extLst>
          </p:cNvPr>
          <p:cNvSpPr txBox="1"/>
          <p:nvPr/>
        </p:nvSpPr>
        <p:spPr>
          <a:xfrm>
            <a:off x="5334000" y="6096000"/>
            <a:ext cx="3810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 dirty="0">
                <a:solidFill>
                  <a:srgbClr val="94A3B8"/>
                </a:solidFill>
              </a:rPr>
              <a:t>v1.0 | Last updated: April 2026</a:t>
            </a:r>
          </a:p>
        </p:txBody>
      </p:sp>
    </p:spTree>
    <p:extLst>
      <p:ext uri="{BB962C8B-B14F-4D97-AF65-F5344CB8AC3E}">
        <p14:creationId xmlns:p14="http://schemas.microsoft.com/office/powerpoint/2010/main" val="2730983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2C56CC-4BCA-514B-87C0-3BEA58B42A0F}"/>
              </a:ext>
            </a:extLst>
          </p:cNvPr>
          <p:cNvSpPr txBox="1"/>
          <p:nvPr/>
        </p:nvSpPr>
        <p:spPr>
          <a:xfrm>
            <a:off x="762000" y="381000"/>
            <a:ext cx="127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400" b="1">
                <a:solidFill>
                  <a:srgbClr val="3B5CC6"/>
                </a:solidFill>
              </a:rPr>
              <a:t>ABOUT</a:t>
            </a:r>
            <a:endParaRPr lang="ko-KR" altLang="en-US" sz="1400" b="1">
              <a:solidFill>
                <a:srgbClr val="3B5CC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6FF70E-828F-FC4E-8D68-E20D114886ED}"/>
              </a:ext>
            </a:extLst>
          </p:cNvPr>
          <p:cNvSpPr txBox="1"/>
          <p:nvPr/>
        </p:nvSpPr>
        <p:spPr>
          <a:xfrm>
            <a:off x="762000" y="698500"/>
            <a:ext cx="635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1E293B"/>
                </a:solidFill>
              </a:rPr>
              <a:t>What is Quest-On?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3E75B4-B110-904D-ACEE-393051397609}"/>
              </a:ext>
            </a:extLst>
          </p:cNvPr>
          <p:cNvSpPr txBox="1"/>
          <p:nvPr/>
        </p:nvSpPr>
        <p:spPr>
          <a:xfrm>
            <a:off x="762000" y="1371600"/>
            <a:ext cx="635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600">
                <a:solidFill>
                  <a:srgbClr val="64748B"/>
                </a:solidFill>
              </a:rPr>
              <a:t>Next-generation AI-powered educational assessment platform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D8363B0B-820E-E54B-ACED-4514FF94358C}"/>
              </a:ext>
            </a:extLst>
          </p:cNvPr>
          <p:cNvSpPr/>
          <p:nvPr/>
        </p:nvSpPr>
        <p:spPr>
          <a:xfrm>
            <a:off x="762000" y="2095500"/>
            <a:ext cx="3429000" cy="2921000"/>
          </a:xfrm>
          <a:prstGeom prst="roundRect">
            <a:avLst/>
          </a:prstGeom>
          <a:solidFill>
            <a:srgbClr val="EEF2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7FE907D9-726E-1648-B133-1227360DFFEC}"/>
              </a:ext>
            </a:extLst>
          </p:cNvPr>
          <p:cNvSpPr/>
          <p:nvPr/>
        </p:nvSpPr>
        <p:spPr>
          <a:xfrm>
            <a:off x="1016000" y="2349500"/>
            <a:ext cx="609600" cy="6096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2200"/>
              <a:t>✍️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E3DE6D-4374-9A4F-AE5B-42317E8C4EFA}"/>
              </a:ext>
            </a:extLst>
          </p:cNvPr>
          <p:cNvSpPr txBox="1"/>
          <p:nvPr/>
        </p:nvSpPr>
        <p:spPr>
          <a:xfrm>
            <a:off x="1016000" y="3111500"/>
            <a:ext cx="292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b="1">
                <a:solidFill>
                  <a:srgbClr val="1E293B"/>
                </a:solidFill>
              </a:rPr>
              <a:t>Essay-Based Assessment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E9799D-DD97-CA40-B49E-98FA9D689FF9}"/>
              </a:ext>
            </a:extLst>
          </p:cNvPr>
          <p:cNvSpPr txBox="1"/>
          <p:nvPr/>
        </p:nvSpPr>
        <p:spPr>
          <a:xfrm>
            <a:off x="1016000" y="3556000"/>
            <a:ext cx="2921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64748B"/>
                </a:solidFill>
              </a:rPr>
              <a:t>Evaluates critical thinking,
not simple memorization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F1220970-1A86-B249-9739-653DE24190FF}"/>
              </a:ext>
            </a:extLst>
          </p:cNvPr>
          <p:cNvSpPr/>
          <p:nvPr/>
        </p:nvSpPr>
        <p:spPr>
          <a:xfrm>
            <a:off x="4381500" y="2095500"/>
            <a:ext cx="3429000" cy="2921000"/>
          </a:xfrm>
          <a:prstGeom prst="roundRect">
            <a:avLst/>
          </a:prstGeom>
          <a:solidFill>
            <a:srgbClr val="F0FD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7C215508-2435-EE4F-89B1-CF9D31E07529}"/>
              </a:ext>
            </a:extLst>
          </p:cNvPr>
          <p:cNvSpPr/>
          <p:nvPr/>
        </p:nvSpPr>
        <p:spPr>
          <a:xfrm>
            <a:off x="4635500" y="2349500"/>
            <a:ext cx="609600" cy="6096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2200"/>
              <a:t>🤖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D56EB8-626C-6C4F-8A59-45C68D1E8187}"/>
              </a:ext>
            </a:extLst>
          </p:cNvPr>
          <p:cNvSpPr txBox="1"/>
          <p:nvPr/>
        </p:nvSpPr>
        <p:spPr>
          <a:xfrm>
            <a:off x="4635500" y="3111500"/>
            <a:ext cx="292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b="1" dirty="0">
                <a:solidFill>
                  <a:srgbClr val="1E293B"/>
                </a:solidFill>
              </a:rPr>
              <a:t>AI-Powered Exam Assistant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DC390D-DF3D-FD4B-9F03-086BECFB95F7}"/>
              </a:ext>
            </a:extLst>
          </p:cNvPr>
          <p:cNvSpPr txBox="1"/>
          <p:nvPr/>
        </p:nvSpPr>
        <p:spPr>
          <a:xfrm>
            <a:off x="4635500" y="3556000"/>
            <a:ext cx="2921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 dirty="0">
                <a:solidFill>
                  <a:srgbClr val="64748B"/>
                </a:solidFill>
              </a:rPr>
              <a:t>Use AI during the exam
to deepen your thinking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755C3DCC-7954-B546-857C-B838EB865E01}"/>
              </a:ext>
            </a:extLst>
          </p:cNvPr>
          <p:cNvSpPr/>
          <p:nvPr/>
        </p:nvSpPr>
        <p:spPr>
          <a:xfrm>
            <a:off x="8001000" y="2095500"/>
            <a:ext cx="3429000" cy="2921000"/>
          </a:xfrm>
          <a:prstGeom prst="roundRect">
            <a:avLst/>
          </a:prstGeom>
          <a:solidFill>
            <a:srgbClr val="FFF7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D892EC16-286E-F349-9163-7BE79F1DC9F1}"/>
              </a:ext>
            </a:extLst>
          </p:cNvPr>
          <p:cNvSpPr/>
          <p:nvPr/>
        </p:nvSpPr>
        <p:spPr>
          <a:xfrm>
            <a:off x="8255000" y="2349500"/>
            <a:ext cx="609600" cy="6096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2200"/>
              <a:t>📊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79CF1A-5BEA-1347-8B9A-B14BB0467833}"/>
              </a:ext>
            </a:extLst>
          </p:cNvPr>
          <p:cNvSpPr txBox="1"/>
          <p:nvPr/>
        </p:nvSpPr>
        <p:spPr>
          <a:xfrm>
            <a:off x="8255000" y="3111500"/>
            <a:ext cx="292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b="1">
                <a:solidFill>
                  <a:srgbClr val="1E293B"/>
                </a:solidFill>
              </a:rPr>
              <a:t>Process-Based Evaluation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3FE1B4-3132-8D42-B199-8FD00542E702}"/>
              </a:ext>
            </a:extLst>
          </p:cNvPr>
          <p:cNvSpPr txBox="1"/>
          <p:nvPr/>
        </p:nvSpPr>
        <p:spPr>
          <a:xfrm>
            <a:off x="8255000" y="3556000"/>
            <a:ext cx="2921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64748B"/>
                </a:solidFill>
              </a:rPr>
              <a:t>Evaluates your reasoning process,
not just the final answer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C9A257F2-46A6-FD44-964A-D8BAAFA2E4A8}"/>
              </a:ext>
            </a:extLst>
          </p:cNvPr>
          <p:cNvSpPr/>
          <p:nvPr/>
        </p:nvSpPr>
        <p:spPr>
          <a:xfrm>
            <a:off x="762000" y="5334000"/>
            <a:ext cx="10668000" cy="635000"/>
          </a:xfrm>
          <a:prstGeom prst="round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1400">
                <a:solidFill>
                  <a:srgbClr val="3B5CC6"/>
                </a:solidFill>
              </a:rPr>
              <a:t>💡 Unlike traditional exams, AI use is permitted — your reasoning process is what gets evaluated</a:t>
            </a:r>
          </a:p>
        </p:txBody>
      </p:sp>
    </p:spTree>
    <p:extLst>
      <p:ext uri="{BB962C8B-B14F-4D97-AF65-F5344CB8AC3E}">
        <p14:creationId xmlns:p14="http://schemas.microsoft.com/office/powerpoint/2010/main" val="898035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F0DFDB-2FF3-FA41-AAB6-939B10953322}"/>
              </a:ext>
            </a:extLst>
          </p:cNvPr>
          <p:cNvSpPr txBox="1"/>
          <p:nvPr/>
        </p:nvSpPr>
        <p:spPr>
          <a:xfrm>
            <a:off x="762000" y="381000"/>
            <a:ext cx="254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400" b="1">
                <a:solidFill>
                  <a:srgbClr val="3B5CC6"/>
                </a:solidFill>
              </a:rPr>
              <a:t>HOW TO ACCESS</a:t>
            </a:r>
            <a:endParaRPr lang="ko-KR" altLang="en-US" sz="1400" b="1">
              <a:solidFill>
                <a:srgbClr val="3B5CC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457908-29CB-DA4D-956F-7879E3DFE5F5}"/>
              </a:ext>
            </a:extLst>
          </p:cNvPr>
          <p:cNvSpPr txBox="1"/>
          <p:nvPr/>
        </p:nvSpPr>
        <p:spPr>
          <a:xfrm>
            <a:off x="762000" y="698500"/>
            <a:ext cx="635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1E293B"/>
                </a:solidFill>
              </a:rPr>
              <a:t>How to Access the Exam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5D9BFA22-EBC7-6249-8E14-4657E241F5B2}"/>
              </a:ext>
            </a:extLst>
          </p:cNvPr>
          <p:cNvSpPr/>
          <p:nvPr/>
        </p:nvSpPr>
        <p:spPr>
          <a:xfrm>
            <a:off x="1231900" y="1651000"/>
            <a:ext cx="508000" cy="508000"/>
          </a:xfrm>
          <a:prstGeom prst="ellipse">
            <a:avLst/>
          </a:prstGeom>
          <a:solidFill>
            <a:srgbClr val="3B5CC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b="1" dirty="0">
                <a:solidFill>
                  <a:srgbClr val="FFFFFF"/>
                </a:solidFill>
              </a:rPr>
              <a:t>1</a:t>
            </a:r>
            <a:endParaRPr lang="ko-KR" altLang="en-US" b="1" dirty="0">
              <a:solidFill>
                <a:srgbClr val="FFFFFF"/>
              </a:solidFill>
            </a:endParaRPr>
          </a:p>
        </p:txBody>
      </p:sp>
      <p:sp>
        <p:nvSpPr>
          <p:cNvPr id="5" name="오른쪽 화살표[R] 4">
            <a:extLst>
              <a:ext uri="{FF2B5EF4-FFF2-40B4-BE49-F238E27FC236}">
                <a16:creationId xmlns:a16="http://schemas.microsoft.com/office/drawing/2014/main" id="{2B4158ED-0CC0-1A45-A575-BDCF87127D87}"/>
              </a:ext>
            </a:extLst>
          </p:cNvPr>
          <p:cNvSpPr/>
          <p:nvPr/>
        </p:nvSpPr>
        <p:spPr>
          <a:xfrm>
            <a:off x="2413000" y="1803400"/>
            <a:ext cx="279400" cy="203200"/>
          </a:xfrm>
          <a:prstGeom prst="rightArrow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3CAAE2-9BF7-3D48-8167-FF86FDB5553B}"/>
              </a:ext>
            </a:extLst>
          </p:cNvPr>
          <p:cNvSpPr txBox="1"/>
          <p:nvPr/>
        </p:nvSpPr>
        <p:spPr>
          <a:xfrm>
            <a:off x="533400" y="2260600"/>
            <a:ext cx="1905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altLang="ko-KR" sz="1600" b="1" dirty="0">
                <a:solidFill>
                  <a:srgbClr val="1E293B"/>
                </a:solidFill>
              </a:rPr>
              <a:t>Visit Website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AD8D5C-244C-8949-91EC-E9127548D99D}"/>
              </a:ext>
            </a:extLst>
          </p:cNvPr>
          <p:cNvSpPr txBox="1"/>
          <p:nvPr/>
        </p:nvSpPr>
        <p:spPr>
          <a:xfrm>
            <a:off x="533400" y="2578100"/>
            <a:ext cx="1905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altLang="ko-KR" sz="1400" dirty="0">
                <a:solidFill>
                  <a:srgbClr val="64748B"/>
                </a:solidFill>
              </a:rPr>
              <a:t>quest-on.app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5ADCFA2-3D2C-2C4A-A5C5-5719C96D8288}"/>
              </a:ext>
            </a:extLst>
          </p:cNvPr>
          <p:cNvSpPr/>
          <p:nvPr/>
        </p:nvSpPr>
        <p:spPr>
          <a:xfrm>
            <a:off x="3365500" y="1651000"/>
            <a:ext cx="508000" cy="508000"/>
          </a:xfrm>
          <a:prstGeom prst="ellipse">
            <a:avLst/>
          </a:prstGeom>
          <a:solidFill>
            <a:srgbClr val="3B5CC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b="1">
                <a:solidFill>
                  <a:srgbClr val="FFFFFF"/>
                </a:solidFill>
              </a:rPr>
              <a:t>2</a:t>
            </a:r>
            <a:endParaRPr lang="ko-KR" altLang="en-US" b="1">
              <a:solidFill>
                <a:srgbClr val="FFFFFF"/>
              </a:solidFill>
            </a:endParaRPr>
          </a:p>
        </p:txBody>
      </p:sp>
      <p:sp>
        <p:nvSpPr>
          <p:cNvPr id="9" name="오른쪽 화살표[R] 8">
            <a:extLst>
              <a:ext uri="{FF2B5EF4-FFF2-40B4-BE49-F238E27FC236}">
                <a16:creationId xmlns:a16="http://schemas.microsoft.com/office/drawing/2014/main" id="{EB56BE97-BC40-2E41-AA54-E99C0DAEDDD5}"/>
              </a:ext>
            </a:extLst>
          </p:cNvPr>
          <p:cNvSpPr/>
          <p:nvPr/>
        </p:nvSpPr>
        <p:spPr>
          <a:xfrm>
            <a:off x="4546600" y="1803400"/>
            <a:ext cx="279400" cy="203200"/>
          </a:xfrm>
          <a:prstGeom prst="rightArrow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BF4709-5CA4-C84E-8783-C6D1A02BE2F9}"/>
              </a:ext>
            </a:extLst>
          </p:cNvPr>
          <p:cNvSpPr txBox="1"/>
          <p:nvPr/>
        </p:nvSpPr>
        <p:spPr>
          <a:xfrm>
            <a:off x="2667000" y="2260600"/>
            <a:ext cx="1905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altLang="ko-KR" sz="1600" b="1">
                <a:solidFill>
                  <a:srgbClr val="1E293B"/>
                </a:solidFill>
              </a:rPr>
              <a:t>Log In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55A8E8-AD9E-8E41-934C-7DB855709546}"/>
              </a:ext>
            </a:extLst>
          </p:cNvPr>
          <p:cNvSpPr txBox="1"/>
          <p:nvPr/>
        </p:nvSpPr>
        <p:spPr>
          <a:xfrm>
            <a:off x="2667000" y="2578100"/>
            <a:ext cx="1905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altLang="ko-KR" sz="1400" dirty="0">
                <a:solidFill>
                  <a:srgbClr val="64748B"/>
                </a:solidFill>
              </a:rPr>
              <a:t>Your school account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1C33478-367C-E741-9673-498039F99DC0}"/>
              </a:ext>
            </a:extLst>
          </p:cNvPr>
          <p:cNvSpPr/>
          <p:nvPr/>
        </p:nvSpPr>
        <p:spPr>
          <a:xfrm>
            <a:off x="5499100" y="1651000"/>
            <a:ext cx="508000" cy="508000"/>
          </a:xfrm>
          <a:prstGeom prst="ellipse">
            <a:avLst/>
          </a:prstGeom>
          <a:solidFill>
            <a:srgbClr val="3B5CC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b="1">
                <a:solidFill>
                  <a:srgbClr val="FFFFFF"/>
                </a:solidFill>
              </a:rPr>
              <a:t>3</a:t>
            </a:r>
            <a:endParaRPr lang="ko-KR" altLang="en-US" b="1">
              <a:solidFill>
                <a:srgbClr val="FFFFFF"/>
              </a:solidFill>
            </a:endParaRPr>
          </a:p>
        </p:txBody>
      </p:sp>
      <p:sp>
        <p:nvSpPr>
          <p:cNvPr id="13" name="오른쪽 화살표[R] 12">
            <a:extLst>
              <a:ext uri="{FF2B5EF4-FFF2-40B4-BE49-F238E27FC236}">
                <a16:creationId xmlns:a16="http://schemas.microsoft.com/office/drawing/2014/main" id="{7521D49C-8D90-754D-86F8-02A77A98E47F}"/>
              </a:ext>
            </a:extLst>
          </p:cNvPr>
          <p:cNvSpPr/>
          <p:nvPr/>
        </p:nvSpPr>
        <p:spPr>
          <a:xfrm>
            <a:off x="6680200" y="1803400"/>
            <a:ext cx="279400" cy="203200"/>
          </a:xfrm>
          <a:prstGeom prst="rightArrow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888C76-B85E-D54A-BECD-5681115D7E43}"/>
              </a:ext>
            </a:extLst>
          </p:cNvPr>
          <p:cNvSpPr txBox="1"/>
          <p:nvPr/>
        </p:nvSpPr>
        <p:spPr>
          <a:xfrm>
            <a:off x="4800600" y="2260600"/>
            <a:ext cx="1905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altLang="ko-KR" sz="1600" b="1">
                <a:solidFill>
                  <a:srgbClr val="1E293B"/>
                </a:solidFill>
              </a:rPr>
              <a:t>Enter Code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05C7BA-BE13-2347-8F89-F339435C24B8}"/>
              </a:ext>
            </a:extLst>
          </p:cNvPr>
          <p:cNvSpPr txBox="1"/>
          <p:nvPr/>
        </p:nvSpPr>
        <p:spPr>
          <a:xfrm>
            <a:off x="4800600" y="2578100"/>
            <a:ext cx="1905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altLang="ko-KR" sz="1400">
                <a:solidFill>
                  <a:srgbClr val="64748B"/>
                </a:solidFill>
              </a:rPr>
              <a:t>Exam code from instructor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F03C07FF-82D2-E342-A9CC-D4B81F8DE69D}"/>
              </a:ext>
            </a:extLst>
          </p:cNvPr>
          <p:cNvSpPr/>
          <p:nvPr/>
        </p:nvSpPr>
        <p:spPr>
          <a:xfrm>
            <a:off x="7632700" y="1651000"/>
            <a:ext cx="508000" cy="508000"/>
          </a:xfrm>
          <a:prstGeom prst="ellipse">
            <a:avLst/>
          </a:prstGeom>
          <a:solidFill>
            <a:srgbClr val="3B5CC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b="1">
                <a:solidFill>
                  <a:srgbClr val="FFFFFF"/>
                </a:solidFill>
              </a:rPr>
              <a:t>4</a:t>
            </a:r>
            <a:endParaRPr lang="ko-KR" altLang="en-US" b="1">
              <a:solidFill>
                <a:srgbClr val="FFFFFF"/>
              </a:solidFill>
            </a:endParaRPr>
          </a:p>
        </p:txBody>
      </p:sp>
      <p:sp>
        <p:nvSpPr>
          <p:cNvPr id="17" name="오른쪽 화살표[R] 16">
            <a:extLst>
              <a:ext uri="{FF2B5EF4-FFF2-40B4-BE49-F238E27FC236}">
                <a16:creationId xmlns:a16="http://schemas.microsoft.com/office/drawing/2014/main" id="{7DCE5FE8-D390-624B-B11E-84FC3A778ACE}"/>
              </a:ext>
            </a:extLst>
          </p:cNvPr>
          <p:cNvSpPr/>
          <p:nvPr/>
        </p:nvSpPr>
        <p:spPr>
          <a:xfrm>
            <a:off x="8813800" y="1803400"/>
            <a:ext cx="279400" cy="203200"/>
          </a:xfrm>
          <a:prstGeom prst="rightArrow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BBB828-DA8F-A14F-A7B8-9F963A55A6AD}"/>
              </a:ext>
            </a:extLst>
          </p:cNvPr>
          <p:cNvSpPr txBox="1"/>
          <p:nvPr/>
        </p:nvSpPr>
        <p:spPr>
          <a:xfrm>
            <a:off x="6934200" y="2260600"/>
            <a:ext cx="1905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altLang="ko-KR" sz="1600" b="1">
                <a:solidFill>
                  <a:srgbClr val="1E293B"/>
                </a:solidFill>
              </a:rPr>
              <a:t>Confirm Exam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1C3E83-6AE4-AB4B-BA3B-07EEC609D930}"/>
              </a:ext>
            </a:extLst>
          </p:cNvPr>
          <p:cNvSpPr txBox="1"/>
          <p:nvPr/>
        </p:nvSpPr>
        <p:spPr>
          <a:xfrm>
            <a:off x="6934200" y="2578100"/>
            <a:ext cx="1905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altLang="ko-KR" sz="1400">
                <a:solidFill>
                  <a:srgbClr val="64748B"/>
                </a:solidFill>
              </a:rPr>
              <a:t>Check on dashboard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4B2E6F1C-901E-0246-B95D-53C367C7910D}"/>
              </a:ext>
            </a:extLst>
          </p:cNvPr>
          <p:cNvSpPr/>
          <p:nvPr/>
        </p:nvSpPr>
        <p:spPr>
          <a:xfrm>
            <a:off x="9766300" y="1651000"/>
            <a:ext cx="508000" cy="508000"/>
          </a:xfrm>
          <a:prstGeom prst="ellipse">
            <a:avLst/>
          </a:prstGeom>
          <a:solidFill>
            <a:srgbClr val="3B5CC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b="1">
                <a:solidFill>
                  <a:srgbClr val="FFFFFF"/>
                </a:solidFill>
              </a:rPr>
              <a:t>5</a:t>
            </a:r>
            <a:endParaRPr lang="ko-KR" altLang="en-US" b="1">
              <a:solidFill>
                <a:srgbClr val="FFFF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D85B8C-A588-6E4E-931E-3597E92DF576}"/>
              </a:ext>
            </a:extLst>
          </p:cNvPr>
          <p:cNvSpPr txBox="1"/>
          <p:nvPr/>
        </p:nvSpPr>
        <p:spPr>
          <a:xfrm>
            <a:off x="9067800" y="2260600"/>
            <a:ext cx="1905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altLang="ko-KR" sz="1600" b="1" dirty="0">
                <a:solidFill>
                  <a:srgbClr val="1E293B"/>
                </a:solidFill>
              </a:rPr>
              <a:t>Start Exam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8726A9C-5BB7-744B-A206-25053A60A910}"/>
              </a:ext>
            </a:extLst>
          </p:cNvPr>
          <p:cNvSpPr txBox="1"/>
          <p:nvPr/>
        </p:nvSpPr>
        <p:spPr>
          <a:xfrm>
            <a:off x="9067800" y="2578100"/>
            <a:ext cx="1905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altLang="ko-KR" sz="1400">
                <a:solidFill>
                  <a:srgbClr val="64748B"/>
                </a:solidFill>
              </a:rPr>
              <a:t>Click "Start"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00FB659D-5A3F-DA4E-9952-165DFBE17A00}"/>
              </a:ext>
            </a:extLst>
          </p:cNvPr>
          <p:cNvSpPr/>
          <p:nvPr/>
        </p:nvSpPr>
        <p:spPr>
          <a:xfrm>
            <a:off x="762000" y="3302000"/>
            <a:ext cx="5080000" cy="2921000"/>
          </a:xfrm>
          <a:prstGeom prst="round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43E4C8-DED8-D749-BE08-ECC4A9072C68}"/>
              </a:ext>
            </a:extLst>
          </p:cNvPr>
          <p:cNvSpPr txBox="1"/>
          <p:nvPr/>
        </p:nvSpPr>
        <p:spPr>
          <a:xfrm>
            <a:off x="762000" y="3365500"/>
            <a:ext cx="508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 dirty="0">
                <a:solidFill>
                  <a:srgbClr val="94A3B8"/>
                </a:solidFill>
              </a:rPr>
              <a:t>📸 Login Screen</a:t>
            </a: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0AB89972-F007-724D-95FD-D6F2010DD891}"/>
              </a:ext>
            </a:extLst>
          </p:cNvPr>
          <p:cNvSpPr/>
          <p:nvPr/>
        </p:nvSpPr>
        <p:spPr>
          <a:xfrm>
            <a:off x="6096000" y="3302000"/>
            <a:ext cx="5334000" cy="2921000"/>
          </a:xfrm>
          <a:prstGeom prst="roundRect">
            <a:avLst/>
          </a:prstGeom>
          <a:solidFill>
            <a:srgbClr val="FFF7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114300" indent="0" algn="l">
              <a:buNone/>
            </a:pPr>
            <a:r>
              <a:rPr lang="en-US" sz="1600" b="1" dirty="0">
                <a:solidFill>
                  <a:srgbClr val="B45309"/>
                </a:solidFill>
                <a:latin typeface="Inter"/>
              </a:rPr>
              <a:t>⚠ Before You Connect</a:t>
            </a:r>
          </a:p>
          <a:p>
            <a:pPr marL="342900" indent="-228600"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rgbClr val="92400E"/>
                </a:solidFill>
                <a:latin typeface="Inter"/>
              </a:rPr>
              <a:t>Use Chrome or Edge browser</a:t>
            </a:r>
          </a:p>
          <a:p>
            <a:pPr marL="342900" indent="-228600"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rgbClr val="92400E"/>
                </a:solidFill>
                <a:latin typeface="Inter"/>
              </a:rPr>
              <a:t>Register with your school account</a:t>
            </a:r>
          </a:p>
          <a:p>
            <a:pPr marL="342900" indent="-228600"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solidFill>
                  <a:srgbClr val="92400E"/>
                </a:solidFill>
                <a:latin typeface="Inter"/>
              </a:rPr>
              <a:t>Ensure stable internet connection</a:t>
            </a:r>
          </a:p>
          <a:p>
            <a:pPr marL="342900" indent="-228600"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solidFill>
                  <a:srgbClr val="92400E"/>
                </a:solidFill>
                <a:latin typeface="Inter"/>
              </a:rPr>
              <a:t>Have your exam code ready</a:t>
            </a:r>
          </a:p>
          <a:p>
            <a:pPr marL="342900" indent="-228600"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solidFill>
                  <a:srgbClr val="92400E"/>
                </a:solidFill>
                <a:latin typeface="Inter"/>
              </a:rPr>
              <a:t>Laptop/Desktop PC recommended</a:t>
            </a:r>
          </a:p>
          <a:p>
            <a:pPr marL="342900" indent="-228600"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solidFill>
                  <a:srgbClr val="92400E"/>
                </a:solidFill>
                <a:latin typeface="Inter"/>
              </a:rPr>
              <a:t>Disable pop-up blocker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D5522DE2-398F-C70E-126C-840BA18C4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511" y="3632200"/>
            <a:ext cx="4492977" cy="252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916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F8956B-D897-7345-81CA-76A56EEF7B6A}"/>
              </a:ext>
            </a:extLst>
          </p:cNvPr>
          <p:cNvSpPr txBox="1"/>
          <p:nvPr/>
        </p:nvSpPr>
        <p:spPr>
          <a:xfrm>
            <a:off x="533400" y="254000"/>
            <a:ext cx="508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400" b="1">
                <a:solidFill>
                  <a:srgbClr val="3B5CC6"/>
                </a:solidFill>
              </a:rPr>
              <a:t>EXAM SCREEN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B9FADD-F3AF-6D4C-93BC-FFE1EDFF5E54}"/>
              </a:ext>
            </a:extLst>
          </p:cNvPr>
          <p:cNvSpPr txBox="1"/>
          <p:nvPr/>
        </p:nvSpPr>
        <p:spPr>
          <a:xfrm>
            <a:off x="533400" y="533400"/>
            <a:ext cx="635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800" b="1">
                <a:solidFill>
                  <a:srgbClr val="1E293B"/>
                </a:solidFill>
              </a:rPr>
              <a:t>Exam Screen Layout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044BBCB1-4223-BF49-8180-6D5E2AD8782B}"/>
              </a:ext>
            </a:extLst>
          </p:cNvPr>
          <p:cNvSpPr/>
          <p:nvPr/>
        </p:nvSpPr>
        <p:spPr>
          <a:xfrm>
            <a:off x="533400" y="1270000"/>
            <a:ext cx="3829594" cy="1524000"/>
          </a:xfrm>
          <a:prstGeom prst="roundRect">
            <a:avLst/>
          </a:prstGeom>
          <a:solidFill>
            <a:srgbClr val="EEF2FF"/>
          </a:solidFill>
          <a:ln w="25400" cap="flat" cmpd="sng" algn="ctr">
            <a:solidFill>
              <a:srgbClr val="3B5CC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73D13F-CE24-F249-A3E6-A9EB41E0C76F}"/>
              </a:ext>
            </a:extLst>
          </p:cNvPr>
          <p:cNvSpPr txBox="1"/>
          <p:nvPr/>
        </p:nvSpPr>
        <p:spPr>
          <a:xfrm>
            <a:off x="698500" y="1358900"/>
            <a:ext cx="279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b="1">
                <a:solidFill>
                  <a:srgbClr val="3B5CC6"/>
                </a:solidFill>
              </a:rPr>
              <a:t>① Question Area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B60E52-471A-B649-9AB4-AD39B1C4B3E8}"/>
              </a:ext>
            </a:extLst>
          </p:cNvPr>
          <p:cNvSpPr txBox="1"/>
          <p:nvPr/>
        </p:nvSpPr>
        <p:spPr>
          <a:xfrm>
            <a:off x="698500" y="1651000"/>
            <a:ext cx="47625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Font typeface="Arial"/>
              <a:buChar char="•"/>
            </a:pPr>
            <a:r>
              <a:rPr lang="en-US" altLang="ko-KR" sz="1200" dirty="0">
                <a:solidFill>
                  <a:srgbClr val="475569"/>
                </a:solidFill>
              </a:rPr>
              <a:t>Navigate freely between questions</a:t>
            </a:r>
          </a:p>
          <a:p>
            <a:pPr algn="l">
              <a:buFont typeface="Arial"/>
              <a:buChar char="•"/>
            </a:pPr>
            <a:r>
              <a:rPr lang="en-US" altLang="ko-KR" sz="1200" dirty="0">
                <a:solidFill>
                  <a:srgbClr val="475569"/>
                </a:solidFill>
              </a:rPr>
              <a:t>Check point values and remaining time at the top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C9237C6D-AE17-9846-B44E-F4CFEAFF5261}"/>
              </a:ext>
            </a:extLst>
          </p:cNvPr>
          <p:cNvSpPr/>
          <p:nvPr/>
        </p:nvSpPr>
        <p:spPr>
          <a:xfrm>
            <a:off x="533400" y="2921000"/>
            <a:ext cx="3829594" cy="1524000"/>
          </a:xfrm>
          <a:prstGeom prst="roundRect">
            <a:avLst/>
          </a:prstGeom>
          <a:solidFill>
            <a:srgbClr val="F0FDF4"/>
          </a:solidFill>
          <a:ln w="25400" cap="flat" cmpd="sng" algn="ctr">
            <a:solidFill>
              <a:srgbClr val="16A3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FC02AF-FB64-E94A-93B3-AC94B5110ACA}"/>
              </a:ext>
            </a:extLst>
          </p:cNvPr>
          <p:cNvSpPr txBox="1"/>
          <p:nvPr/>
        </p:nvSpPr>
        <p:spPr>
          <a:xfrm>
            <a:off x="698500" y="3009900"/>
            <a:ext cx="279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b="1">
                <a:solidFill>
                  <a:srgbClr val="16A34A"/>
                </a:solidFill>
              </a:rPr>
              <a:t>② Answer Area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DB8A38-5AF6-A342-BC69-3883ADAB76E7}"/>
              </a:ext>
            </a:extLst>
          </p:cNvPr>
          <p:cNvSpPr txBox="1"/>
          <p:nvPr/>
        </p:nvSpPr>
        <p:spPr>
          <a:xfrm>
            <a:off x="698500" y="3302000"/>
            <a:ext cx="47625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Font typeface="Arial"/>
              <a:buChar char="•"/>
            </a:pPr>
            <a:r>
              <a:rPr lang="en-US" altLang="ko-KR" sz="1200" dirty="0">
                <a:solidFill>
                  <a:srgbClr val="475569"/>
                </a:solidFill>
              </a:rPr>
              <a:t>Auto-save supported / Manual save also available</a:t>
            </a:r>
          </a:p>
          <a:p>
            <a:pPr algn="l">
              <a:buFont typeface="Arial"/>
              <a:buChar char="•"/>
            </a:pPr>
            <a:r>
              <a:rPr lang="en-US" altLang="ko-KR" sz="1200" dirty="0">
                <a:solidFill>
                  <a:srgbClr val="475569"/>
                </a:solidFill>
              </a:rPr>
              <a:t>Built-in text editor with real-time word count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70B0BB27-D1BF-994F-9226-9DF4BF61C299}"/>
              </a:ext>
            </a:extLst>
          </p:cNvPr>
          <p:cNvSpPr/>
          <p:nvPr/>
        </p:nvSpPr>
        <p:spPr>
          <a:xfrm>
            <a:off x="533400" y="4572000"/>
            <a:ext cx="3829594" cy="1524000"/>
          </a:xfrm>
          <a:prstGeom prst="roundRect">
            <a:avLst/>
          </a:prstGeom>
          <a:solidFill>
            <a:srgbClr val="FFF7ED"/>
          </a:solidFill>
          <a:ln w="25400" cap="flat" cmpd="sng" algn="ctr">
            <a:solidFill>
              <a:srgbClr val="F59E0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CD247A-1DDC-504E-B7B5-2F6FD38D6D7C}"/>
              </a:ext>
            </a:extLst>
          </p:cNvPr>
          <p:cNvSpPr txBox="1"/>
          <p:nvPr/>
        </p:nvSpPr>
        <p:spPr>
          <a:xfrm>
            <a:off x="698500" y="4660900"/>
            <a:ext cx="279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b="1">
                <a:solidFill>
                  <a:srgbClr val="F59E0B"/>
                </a:solidFill>
              </a:rPr>
              <a:t>③ AI Assistant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CDF459-B40D-7B41-B1D2-E147CC1C0BAB}"/>
              </a:ext>
            </a:extLst>
          </p:cNvPr>
          <p:cNvSpPr txBox="1"/>
          <p:nvPr/>
        </p:nvSpPr>
        <p:spPr>
          <a:xfrm>
            <a:off x="698500" y="4953000"/>
            <a:ext cx="3545254" cy="83099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Font typeface="Arial"/>
              <a:buChar char="•"/>
            </a:pPr>
            <a:r>
              <a:rPr lang="en-US" altLang="ko-KR" sz="1200" dirty="0">
                <a:solidFill>
                  <a:srgbClr val="475569"/>
                </a:solidFill>
              </a:rPr>
              <a:t>Provides hints and guidance (will not give direct answers)</a:t>
            </a:r>
          </a:p>
          <a:p>
            <a:pPr algn="l">
              <a:buFont typeface="Arial"/>
              <a:buChar char="•"/>
            </a:pPr>
            <a:r>
              <a:rPr lang="en-US" altLang="ko-KR" sz="1200" dirty="0">
                <a:solidFill>
                  <a:srgbClr val="475569"/>
                </a:solidFill>
              </a:rPr>
              <a:t>Chat logs are visible to your professor / Usage limit applies</a:t>
            </a:r>
          </a:p>
        </p:txBody>
      </p:sp>
      <p:pic>
        <p:nvPicPr>
          <p:cNvPr id="13" name="Copied Picture 13">
            <a:extLst>
              <a:ext uri="{FF2B5EF4-FFF2-40B4-BE49-F238E27FC236}">
                <a16:creationId xmlns:a16="http://schemas.microsoft.com/office/drawing/2014/main" id="{356FBE1B-46B1-919C-0769-D4CC298F5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8094" y="1397000"/>
            <a:ext cx="7478376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486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4D9975-CB09-F646-B463-457E2F8A9228}"/>
              </a:ext>
            </a:extLst>
          </p:cNvPr>
          <p:cNvSpPr txBox="1"/>
          <p:nvPr/>
        </p:nvSpPr>
        <p:spPr>
          <a:xfrm>
            <a:off x="762000" y="381000"/>
            <a:ext cx="254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 b="1">
                <a:solidFill>
                  <a:srgbClr val="3B5CC6"/>
                </a:solidFill>
                <a:latin typeface="Inter"/>
              </a:rPr>
              <a:t>05</a:t>
            </a:r>
            <a:endParaRPr lang="ko-KR" altLang="en-US" sz="1400" b="1">
              <a:solidFill>
                <a:srgbClr val="3B5CC6"/>
              </a:solidFill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133092-A89F-2747-AFE7-E6EA315E702B}"/>
              </a:ext>
            </a:extLst>
          </p:cNvPr>
          <p:cNvSpPr txBox="1"/>
          <p:nvPr/>
        </p:nvSpPr>
        <p:spPr>
          <a:xfrm>
            <a:off x="762000" y="698500"/>
            <a:ext cx="762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800" b="1">
                <a:solidFill>
                  <a:srgbClr val="1E293B"/>
                </a:solidFill>
                <a:latin typeface="Inter"/>
              </a:rPr>
              <a:t>How to Use the AI Assistant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7FC30B55-130F-1B49-BF9E-3BE968902328}"/>
              </a:ext>
            </a:extLst>
          </p:cNvPr>
          <p:cNvSpPr/>
          <p:nvPr/>
        </p:nvSpPr>
        <p:spPr>
          <a:xfrm>
            <a:off x="533400" y="1524000"/>
            <a:ext cx="5334000" cy="444500"/>
          </a:xfrm>
          <a:prstGeom prst="round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Inter"/>
              </a:rPr>
              <a:t>✓  Do's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0809E815-797E-3043-95FE-CC5508AFD011}"/>
              </a:ext>
            </a:extLst>
          </p:cNvPr>
          <p:cNvSpPr/>
          <p:nvPr/>
        </p:nvSpPr>
        <p:spPr>
          <a:xfrm>
            <a:off x="533400" y="2006600"/>
            <a:ext cx="5334000" cy="2667000"/>
          </a:xfrm>
          <a:prstGeom prst="roundRect">
            <a:avLst/>
          </a:prstGeom>
          <a:solidFill>
            <a:srgbClr val="F0FD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6C4A31-CE85-FE4A-BACC-EE696B4CDFD1}"/>
              </a:ext>
            </a:extLst>
          </p:cNvPr>
          <p:cNvSpPr txBox="1"/>
          <p:nvPr/>
        </p:nvSpPr>
        <p:spPr>
          <a:xfrm>
            <a:off x="723900" y="2133600"/>
            <a:ext cx="4953000" cy="241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1E293B"/>
                </a:solidFill>
                <a:latin typeface="Inter"/>
              </a:rPr>
              <a:t>• Ask for concept explanations
  "Explain the definition of digital transformation"
• Ask for guidance on approach
  "How should I approach this problem?"
• Ask for help organizing your response
  "Help me outline intro-body-conclusion"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129A6DC1-4AD8-704E-8BE1-C2600FA9F863}"/>
              </a:ext>
            </a:extLst>
          </p:cNvPr>
          <p:cNvSpPr/>
          <p:nvPr/>
        </p:nvSpPr>
        <p:spPr>
          <a:xfrm>
            <a:off x="6096000" y="1524000"/>
            <a:ext cx="5334000" cy="444500"/>
          </a:xfrm>
          <a:prstGeom prst="round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Inter"/>
              </a:rPr>
              <a:t>✗  Don'ts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FB6B603F-0615-F142-B391-E5097E366A83}"/>
              </a:ext>
            </a:extLst>
          </p:cNvPr>
          <p:cNvSpPr/>
          <p:nvPr/>
        </p:nvSpPr>
        <p:spPr>
          <a:xfrm>
            <a:off x="6096000" y="2006600"/>
            <a:ext cx="5334000" cy="2667000"/>
          </a:xfrm>
          <a:prstGeom prst="roundRect">
            <a:avLst/>
          </a:prstGeom>
          <a:solidFill>
            <a:srgbClr val="FEF2F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90D936-703D-4344-9D7C-7D5DB3728627}"/>
              </a:ext>
            </a:extLst>
          </p:cNvPr>
          <p:cNvSpPr txBox="1"/>
          <p:nvPr/>
        </p:nvSpPr>
        <p:spPr>
          <a:xfrm>
            <a:off x="6286500" y="2133600"/>
            <a:ext cx="4953000" cy="241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1E293B"/>
                </a:solidFill>
                <a:latin typeface="Inter"/>
              </a:rPr>
              <a:t>• Asking for direct answers
  "Tell me the answer to this question" ✗
• Requesting complete responses
  "Write the answer for me" ✗
• Copy-pasting AI output
  Submitting AI responses as your own ✗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B5FBF077-5B1F-5A4D-8602-B2ABF9064902}"/>
              </a:ext>
            </a:extLst>
          </p:cNvPr>
          <p:cNvSpPr/>
          <p:nvPr/>
        </p:nvSpPr>
        <p:spPr>
          <a:xfrm>
            <a:off x="533400" y="4889500"/>
            <a:ext cx="11125200" cy="635000"/>
          </a:xfrm>
          <a:prstGeom prst="roundRect">
            <a:avLst/>
          </a:prstGeom>
          <a:solidFill>
            <a:srgbClr val="EEF2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B1F02D-2BB4-064B-9ADD-25DCEC5ED82A}"/>
              </a:ext>
            </a:extLst>
          </p:cNvPr>
          <p:cNvSpPr txBox="1"/>
          <p:nvPr/>
        </p:nvSpPr>
        <p:spPr>
          <a:xfrm>
            <a:off x="723900" y="4978400"/>
            <a:ext cx="107442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altLang="ko-KR" sz="1500" b="1">
                <a:solidFill>
                  <a:srgbClr val="3B5CC6"/>
                </a:solidFill>
                <a:latin typeface="Inter"/>
              </a:rPr>
              <a:t>💡  The AI Assistant is your thinking partner — use it to develop your ideas, not to get answers!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A2ED45-9B58-8C44-985C-C971B3A7702B}"/>
              </a:ext>
            </a:extLst>
          </p:cNvPr>
          <p:cNvSpPr txBox="1"/>
          <p:nvPr/>
        </p:nvSpPr>
        <p:spPr>
          <a:xfrm>
            <a:off x="533400" y="5778500"/>
            <a:ext cx="11125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DC2626"/>
                </a:solidFill>
                <a:latin typeface="Inter"/>
              </a:rPr>
              <a:t>⚠ All AI conversation logs are shared with your professor and may factor into your evaluation.</a:t>
            </a:r>
          </a:p>
        </p:txBody>
      </p:sp>
    </p:spTree>
    <p:extLst>
      <p:ext uri="{BB962C8B-B14F-4D97-AF65-F5344CB8AC3E}">
        <p14:creationId xmlns:p14="http://schemas.microsoft.com/office/powerpoint/2010/main" val="3950961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49761D-076E-F342-AFFB-29EF809864B9}"/>
              </a:ext>
            </a:extLst>
          </p:cNvPr>
          <p:cNvSpPr txBox="1"/>
          <p:nvPr/>
        </p:nvSpPr>
        <p:spPr>
          <a:xfrm>
            <a:off x="762000" y="381000"/>
            <a:ext cx="254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 b="1">
                <a:solidFill>
                  <a:srgbClr val="3B5CC6"/>
                </a:solidFill>
                <a:latin typeface="Inter"/>
              </a:rPr>
              <a:t>06</a:t>
            </a:r>
            <a:endParaRPr lang="ko-KR" altLang="en-US" sz="1400" b="1">
              <a:solidFill>
                <a:srgbClr val="3B5CC6"/>
              </a:solidFill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AEE057-527C-EF4E-814E-FE79DE650DD9}"/>
              </a:ext>
            </a:extLst>
          </p:cNvPr>
          <p:cNvSpPr txBox="1"/>
          <p:nvPr/>
        </p:nvSpPr>
        <p:spPr>
          <a:xfrm>
            <a:off x="762000" y="698500"/>
            <a:ext cx="635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800" b="1">
                <a:solidFill>
                  <a:srgbClr val="1E293B"/>
                </a:solidFill>
                <a:latin typeface="Inter"/>
              </a:rPr>
              <a:t>Answer Writing Guide</a:t>
            </a: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A1103AB6-22B8-9042-965E-A750193AE1C2}"/>
              </a:ext>
            </a:extLst>
          </p:cNvPr>
          <p:cNvSpPr/>
          <p:nvPr/>
        </p:nvSpPr>
        <p:spPr>
          <a:xfrm>
            <a:off x="533400" y="1397000"/>
            <a:ext cx="11125200" cy="1397000"/>
          </a:xfrm>
          <a:prstGeom prst="roundRect">
            <a:avLst/>
          </a:prstGeom>
          <a:solidFill>
            <a:srgbClr val="FEF2F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1D95B1-5C3D-9849-90EA-F611FC6ED2C5}"/>
              </a:ext>
            </a:extLst>
          </p:cNvPr>
          <p:cNvSpPr txBox="1"/>
          <p:nvPr/>
        </p:nvSpPr>
        <p:spPr>
          <a:xfrm>
            <a:off x="723900" y="1498600"/>
            <a:ext cx="10744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600" b="1">
                <a:solidFill>
                  <a:srgbClr val="DC2626"/>
                </a:solidFill>
                <a:latin typeface="Inter"/>
              </a:rPr>
              <a:t>⏰  Always check the remaining time!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8F71A2-4687-7144-A92D-210CAF397778}"/>
              </a:ext>
            </a:extLst>
          </p:cNvPr>
          <p:cNvSpPr txBox="1"/>
          <p:nvPr/>
        </p:nvSpPr>
        <p:spPr>
          <a:xfrm>
            <a:off x="723900" y="1905000"/>
            <a:ext cx="107442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64748B"/>
                </a:solidFill>
                <a:latin typeface="Inter"/>
              </a:rPr>
              <a:t>A timer is displayed at the top of the screen. Your exam is auto-submitted when time expires, so reserve the last 5 minutes for review.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9F569008-4D75-2E48-94A8-A4FC191660CB}"/>
              </a:ext>
            </a:extLst>
          </p:cNvPr>
          <p:cNvSpPr/>
          <p:nvPr/>
        </p:nvSpPr>
        <p:spPr>
          <a:xfrm>
            <a:off x="533400" y="3048000"/>
            <a:ext cx="11125200" cy="1397000"/>
          </a:xfrm>
          <a:prstGeom prst="roundRect">
            <a:avLst/>
          </a:prstGeom>
          <a:solidFill>
            <a:srgbClr val="EEF2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FE1863-975A-8442-A0DB-4AD8FED5E2EF}"/>
              </a:ext>
            </a:extLst>
          </p:cNvPr>
          <p:cNvSpPr txBox="1"/>
          <p:nvPr/>
        </p:nvSpPr>
        <p:spPr>
          <a:xfrm>
            <a:off x="723900" y="3149600"/>
            <a:ext cx="10744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600" b="1">
                <a:solidFill>
                  <a:srgbClr val="3B5CC6"/>
                </a:solidFill>
                <a:latin typeface="Inter"/>
              </a:rPr>
              <a:t>💾  Auto-Save Notice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06EB7C-1EAF-EC44-B87E-344553E7D403}"/>
              </a:ext>
            </a:extLst>
          </p:cNvPr>
          <p:cNvSpPr txBox="1"/>
          <p:nvPr/>
        </p:nvSpPr>
        <p:spPr>
          <a:xfrm>
            <a:off x="723900" y="3556000"/>
            <a:ext cx="107442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64748B"/>
                </a:solidFill>
                <a:latin typeface="Inter"/>
              </a:rPr>
              <a:t>Your answers are saved automatically. However, you must click the final Submit button to complete your exam.</a:t>
            </a: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058A75AB-100A-2B43-91FC-0CDA70FFF255}"/>
              </a:ext>
            </a:extLst>
          </p:cNvPr>
          <p:cNvSpPr/>
          <p:nvPr/>
        </p:nvSpPr>
        <p:spPr>
          <a:xfrm>
            <a:off x="533400" y="4699000"/>
            <a:ext cx="11125200" cy="1397000"/>
          </a:xfrm>
          <a:prstGeom prst="round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79FE28-6C19-DB45-95B2-D7338E48D7BA}"/>
              </a:ext>
            </a:extLst>
          </p:cNvPr>
          <p:cNvSpPr txBox="1"/>
          <p:nvPr/>
        </p:nvSpPr>
        <p:spPr>
          <a:xfrm>
            <a:off x="723900" y="5181600"/>
            <a:ext cx="107442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altLang="ko-KR" sz="1400">
                <a:solidFill>
                  <a:srgbClr val="64748B"/>
                </a:solidFill>
                <a:latin typeface="Inter"/>
              </a:rPr>
              <a:t>Use the built-in text editor to format your answers. Auto-save runs in the background as you write.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23900" y="4800600"/>
            <a:ext cx="10744200" cy="3556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 b="1">
                <a:solidFill>
                  <a:srgbClr val="F59E0B"/>
                </a:solidFill>
                <a:latin typeface="Inter"/>
              </a:rPr>
              <a:t>✏️  Formatting Guide</a:t>
            </a:r>
          </a:p>
        </p:txBody>
      </p:sp>
    </p:spTree>
    <p:extLst>
      <p:ext uri="{BB962C8B-B14F-4D97-AF65-F5344CB8AC3E}">
        <p14:creationId xmlns:p14="http://schemas.microsoft.com/office/powerpoint/2010/main" val="270744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D067C8-83BA-EC43-80F2-383AEDD5918D}"/>
              </a:ext>
            </a:extLst>
          </p:cNvPr>
          <p:cNvSpPr txBox="1"/>
          <p:nvPr/>
        </p:nvSpPr>
        <p:spPr>
          <a:xfrm>
            <a:off x="762000" y="381000"/>
            <a:ext cx="254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 b="1">
                <a:solidFill>
                  <a:srgbClr val="3B5CC6"/>
                </a:solidFill>
                <a:latin typeface="Inter"/>
              </a:rPr>
              <a:t>07</a:t>
            </a:r>
            <a:endParaRPr lang="ko-KR" altLang="en-US" sz="1400" b="1">
              <a:solidFill>
                <a:srgbClr val="3B5CC6"/>
              </a:solidFill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5BCDA5-7BF7-7646-B2DB-4FF45B35F786}"/>
              </a:ext>
            </a:extLst>
          </p:cNvPr>
          <p:cNvSpPr txBox="1"/>
          <p:nvPr/>
        </p:nvSpPr>
        <p:spPr>
          <a:xfrm>
            <a:off x="762000" y="698500"/>
            <a:ext cx="635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800" b="1">
                <a:solidFill>
                  <a:srgbClr val="1E293B"/>
                </a:solidFill>
                <a:latin typeface="Inter"/>
              </a:rPr>
              <a:t>Exam Precautions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DC39EE8F-2218-534C-9A05-176FBBE0CD28}"/>
              </a:ext>
            </a:extLst>
          </p:cNvPr>
          <p:cNvSpPr/>
          <p:nvPr/>
        </p:nvSpPr>
        <p:spPr>
          <a:xfrm>
            <a:off x="533400" y="1524000"/>
            <a:ext cx="5435600" cy="1968500"/>
          </a:xfrm>
          <a:prstGeom prst="roundRect">
            <a:avLst/>
          </a:prstGeom>
          <a:solidFill>
            <a:srgbClr val="FEF2F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3D93FDA-16A3-9846-B95E-E2B68FC2BD3A}"/>
              </a:ext>
            </a:extLst>
          </p:cNvPr>
          <p:cNvSpPr/>
          <p:nvPr/>
        </p:nvSpPr>
        <p:spPr>
          <a:xfrm>
            <a:off x="533400" y="1524000"/>
            <a:ext cx="63500" cy="19685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DD5129-03D1-1148-A6F7-31A412546084}"/>
              </a:ext>
            </a:extLst>
          </p:cNvPr>
          <p:cNvSpPr txBox="1"/>
          <p:nvPr/>
        </p:nvSpPr>
        <p:spPr>
          <a:xfrm>
            <a:off x="787400" y="1714500"/>
            <a:ext cx="495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b="1">
                <a:solidFill>
                  <a:srgbClr val="1E293B"/>
                </a:solidFill>
                <a:latin typeface="Inter"/>
              </a:rPr>
              <a:t>🚫  No External Searches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BBC61A-289C-F74A-8320-6D43387523D3}"/>
              </a:ext>
            </a:extLst>
          </p:cNvPr>
          <p:cNvSpPr txBox="1"/>
          <p:nvPr/>
        </p:nvSpPr>
        <p:spPr>
          <a:xfrm>
            <a:off x="787400" y="2222500"/>
            <a:ext cx="4953000" cy="1079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475569"/>
                </a:solidFill>
                <a:latin typeface="Inter"/>
              </a:rPr>
              <a:t>Opening other tabs or
browsers during the exam
is flagged as cheating.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7470712F-0C33-4F43-BED2-6802FF68D045}"/>
              </a:ext>
            </a:extLst>
          </p:cNvPr>
          <p:cNvSpPr/>
          <p:nvPr/>
        </p:nvSpPr>
        <p:spPr>
          <a:xfrm>
            <a:off x="6223000" y="1524000"/>
            <a:ext cx="5435600" cy="1968500"/>
          </a:xfrm>
          <a:prstGeom prst="roundRect">
            <a:avLst/>
          </a:prstGeom>
          <a:solidFill>
            <a:srgbClr val="FFF7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4433310-7E76-494B-A0AA-0C3070BF7A6F}"/>
              </a:ext>
            </a:extLst>
          </p:cNvPr>
          <p:cNvSpPr/>
          <p:nvPr/>
        </p:nvSpPr>
        <p:spPr>
          <a:xfrm>
            <a:off x="6223000" y="1524000"/>
            <a:ext cx="63500" cy="1968500"/>
          </a:xfrm>
          <a:prstGeom prst="rect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9E31F1-A4CE-1049-AEBB-5C0AA794D695}"/>
              </a:ext>
            </a:extLst>
          </p:cNvPr>
          <p:cNvSpPr txBox="1"/>
          <p:nvPr/>
        </p:nvSpPr>
        <p:spPr>
          <a:xfrm>
            <a:off x="6477000" y="1714500"/>
            <a:ext cx="495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b="1">
                <a:solidFill>
                  <a:srgbClr val="1E293B"/>
                </a:solidFill>
                <a:latin typeface="Inter"/>
              </a:rPr>
              <a:t>📋  Copy-Paste Detection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8AFE50-7823-6B44-8E18-5953979B99C5}"/>
              </a:ext>
            </a:extLst>
          </p:cNvPr>
          <p:cNvSpPr txBox="1"/>
          <p:nvPr/>
        </p:nvSpPr>
        <p:spPr>
          <a:xfrm>
            <a:off x="6477000" y="2222500"/>
            <a:ext cx="4953000" cy="1079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475569"/>
                </a:solidFill>
                <a:latin typeface="Inter"/>
              </a:rPr>
              <a:t>Pasting external text is
automatically logged and
reported to your professor.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10942951-DC10-9D4F-97D8-F6EC6F557E09}"/>
              </a:ext>
            </a:extLst>
          </p:cNvPr>
          <p:cNvSpPr/>
          <p:nvPr/>
        </p:nvSpPr>
        <p:spPr>
          <a:xfrm>
            <a:off x="533400" y="3683000"/>
            <a:ext cx="5435600" cy="1968500"/>
          </a:xfrm>
          <a:prstGeom prst="roundRect">
            <a:avLst/>
          </a:prstGeom>
          <a:solidFill>
            <a:srgbClr val="FEF2F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0142465-1F65-A34E-A330-B836ED7AE51F}"/>
              </a:ext>
            </a:extLst>
          </p:cNvPr>
          <p:cNvSpPr/>
          <p:nvPr/>
        </p:nvSpPr>
        <p:spPr>
          <a:xfrm>
            <a:off x="533400" y="3683000"/>
            <a:ext cx="63500" cy="19685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BB40FF-A63D-DE4A-93CA-8B4AB5C25FBF}"/>
              </a:ext>
            </a:extLst>
          </p:cNvPr>
          <p:cNvSpPr txBox="1"/>
          <p:nvPr/>
        </p:nvSpPr>
        <p:spPr>
          <a:xfrm>
            <a:off x="787400" y="3873500"/>
            <a:ext cx="495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b="1">
                <a:solidFill>
                  <a:srgbClr val="1E293B"/>
                </a:solidFill>
                <a:latin typeface="Inter"/>
              </a:rPr>
              <a:t>🖥️  Screen Exit Logging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EA3D2E-67C4-1348-BFA2-A40B3BE8C0BF}"/>
              </a:ext>
            </a:extLst>
          </p:cNvPr>
          <p:cNvSpPr txBox="1"/>
          <p:nvPr/>
        </p:nvSpPr>
        <p:spPr>
          <a:xfrm>
            <a:off x="787400" y="4381500"/>
            <a:ext cx="4953000" cy="1079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475569"/>
                </a:solidFill>
                <a:latin typeface="Inter"/>
              </a:rPr>
              <a:t>Leaving the exam screen
is recorded, including
exit count and duration.</a:t>
            </a: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797673AF-ED8A-3E4C-B22A-211F3432F6EB}"/>
              </a:ext>
            </a:extLst>
          </p:cNvPr>
          <p:cNvSpPr/>
          <p:nvPr/>
        </p:nvSpPr>
        <p:spPr>
          <a:xfrm>
            <a:off x="6223000" y="3683000"/>
            <a:ext cx="5435600" cy="1968500"/>
          </a:xfrm>
          <a:prstGeom prst="roundRect">
            <a:avLst/>
          </a:prstGeom>
          <a:solidFill>
            <a:srgbClr val="FFF7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2649B33-FD18-7541-897E-BA56363D19AF}"/>
              </a:ext>
            </a:extLst>
          </p:cNvPr>
          <p:cNvSpPr/>
          <p:nvPr/>
        </p:nvSpPr>
        <p:spPr>
          <a:xfrm>
            <a:off x="6223000" y="3683000"/>
            <a:ext cx="63500" cy="1968500"/>
          </a:xfrm>
          <a:prstGeom prst="rect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83E528-E93E-C044-82BE-B81432BE69F9}"/>
              </a:ext>
            </a:extLst>
          </p:cNvPr>
          <p:cNvSpPr txBox="1"/>
          <p:nvPr/>
        </p:nvSpPr>
        <p:spPr>
          <a:xfrm>
            <a:off x="6477000" y="3873500"/>
            <a:ext cx="495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b="1">
                <a:solidFill>
                  <a:srgbClr val="1E293B"/>
                </a:solidFill>
                <a:latin typeface="Inter"/>
              </a:rPr>
              <a:t>⏰  Time Management Required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60B8FA-A745-DD41-9807-ADFC126B69D0}"/>
              </a:ext>
            </a:extLst>
          </p:cNvPr>
          <p:cNvSpPr txBox="1"/>
          <p:nvPr/>
        </p:nvSpPr>
        <p:spPr>
          <a:xfrm>
            <a:off x="6477000" y="4381500"/>
            <a:ext cx="4953000" cy="1079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475569"/>
                </a:solidFill>
                <a:latin typeface="Inter"/>
              </a:rPr>
              <a:t>Your exam is auto-submitted
when time expires. Always
reserve time for final review.</a:t>
            </a: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52D55960-7A27-5442-BB1B-4107A47AC5B1}"/>
              </a:ext>
            </a:extLst>
          </p:cNvPr>
          <p:cNvSpPr/>
          <p:nvPr/>
        </p:nvSpPr>
        <p:spPr>
          <a:xfrm>
            <a:off x="533400" y="5969000"/>
            <a:ext cx="11125200" cy="508000"/>
          </a:xfrm>
          <a:prstGeom prst="round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7451E3-94DC-C249-8E3F-206FB41F90D4}"/>
              </a:ext>
            </a:extLst>
          </p:cNvPr>
          <p:cNvSpPr txBox="1"/>
          <p:nvPr/>
        </p:nvSpPr>
        <p:spPr>
          <a:xfrm>
            <a:off x="723900" y="6032500"/>
            <a:ext cx="107442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altLang="ko-KR" sz="1500" b="1">
                <a:solidFill>
                  <a:srgbClr val="FFFFFF"/>
                </a:solidFill>
                <a:latin typeface="Inter"/>
              </a:rPr>
              <a:t>⚠  Cheating will result in a score of zero and disciplinary action under university policy.</a:t>
            </a:r>
          </a:p>
        </p:txBody>
      </p:sp>
    </p:spTree>
    <p:extLst>
      <p:ext uri="{BB962C8B-B14F-4D97-AF65-F5344CB8AC3E}">
        <p14:creationId xmlns:p14="http://schemas.microsoft.com/office/powerpoint/2010/main" val="3675605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D1E443-15C1-B140-8E18-40BB75ED6961}"/>
              </a:ext>
            </a:extLst>
          </p:cNvPr>
          <p:cNvSpPr txBox="1"/>
          <p:nvPr/>
        </p:nvSpPr>
        <p:spPr>
          <a:xfrm>
            <a:off x="762000" y="381000"/>
            <a:ext cx="254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 b="1">
                <a:solidFill>
                  <a:srgbClr val="3B5CC6"/>
                </a:solidFill>
                <a:latin typeface="Inter"/>
              </a:rPr>
              <a:t>08</a:t>
            </a:r>
            <a:endParaRPr lang="ko-KR" altLang="en-US" sz="1400" b="1">
              <a:solidFill>
                <a:srgbClr val="3B5CC6"/>
              </a:solidFill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A8D82-D275-E148-814D-BB1BD91F4B45}"/>
              </a:ext>
            </a:extLst>
          </p:cNvPr>
          <p:cNvSpPr txBox="1"/>
          <p:nvPr/>
        </p:nvSpPr>
        <p:spPr>
          <a:xfrm>
            <a:off x="762000" y="698500"/>
            <a:ext cx="635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800" b="1">
                <a:solidFill>
                  <a:srgbClr val="1E293B"/>
                </a:solidFill>
                <a:latin typeface="Inter"/>
              </a:rPr>
              <a:t>Exam Submission Process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173624EB-BD33-6141-B1C2-E9F1E5FA7F58}"/>
              </a:ext>
            </a:extLst>
          </p:cNvPr>
          <p:cNvSpPr/>
          <p:nvPr/>
        </p:nvSpPr>
        <p:spPr>
          <a:xfrm>
            <a:off x="2146300" y="1587500"/>
            <a:ext cx="762000" cy="762000"/>
          </a:xfrm>
          <a:prstGeom prst="ellipse">
            <a:avLst/>
          </a:prstGeom>
          <a:solidFill>
            <a:srgbClr val="3B5CC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2600" b="1" dirty="0">
                <a:solidFill>
                  <a:srgbClr val="FFFFFF"/>
                </a:solidFill>
                <a:latin typeface="Inter"/>
              </a:rPr>
              <a:t>1</a:t>
            </a:r>
            <a:endParaRPr lang="ko-KR" altLang="en-US" sz="2600" b="1" dirty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5" name="오른쪽 화살표[R] 4">
            <a:extLst>
              <a:ext uri="{FF2B5EF4-FFF2-40B4-BE49-F238E27FC236}">
                <a16:creationId xmlns:a16="http://schemas.microsoft.com/office/drawing/2014/main" id="{6B58859D-737F-564B-8681-05652B699A49}"/>
              </a:ext>
            </a:extLst>
          </p:cNvPr>
          <p:cNvSpPr/>
          <p:nvPr/>
        </p:nvSpPr>
        <p:spPr>
          <a:xfrm>
            <a:off x="3810000" y="1778000"/>
            <a:ext cx="508000" cy="381000"/>
          </a:xfrm>
          <a:prstGeom prst="rightArrow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C5286C-3137-4A4B-860C-141199E661E9}"/>
              </a:ext>
            </a:extLst>
          </p:cNvPr>
          <p:cNvSpPr txBox="1"/>
          <p:nvPr/>
        </p:nvSpPr>
        <p:spPr>
          <a:xfrm>
            <a:off x="762000" y="2476500"/>
            <a:ext cx="3530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altLang="ko-KR" b="1" dirty="0">
                <a:solidFill>
                  <a:srgbClr val="1E293B"/>
                </a:solidFill>
                <a:latin typeface="Inter"/>
              </a:rPr>
              <a:t>Final Answer Review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52955710-2C5E-4E4D-A55A-BCB8D449A4B7}"/>
              </a:ext>
            </a:extLst>
          </p:cNvPr>
          <p:cNvSpPr/>
          <p:nvPr/>
        </p:nvSpPr>
        <p:spPr>
          <a:xfrm>
            <a:off x="762000" y="2921000"/>
            <a:ext cx="3530600" cy="1206500"/>
          </a:xfrm>
          <a:prstGeom prst="round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AB0C2E-865D-3840-B5E1-3C30BFE0DB61}"/>
              </a:ext>
            </a:extLst>
          </p:cNvPr>
          <p:cNvSpPr txBox="1"/>
          <p:nvPr/>
        </p:nvSpPr>
        <p:spPr>
          <a:xfrm>
            <a:off x="952500" y="3048000"/>
            <a:ext cx="31496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altLang="ko-KR" sz="1400" dirty="0">
                <a:solidFill>
                  <a:srgbClr val="475569"/>
                </a:solidFill>
                <a:latin typeface="Inter"/>
              </a:rPr>
              <a:t>Re-read all answers
and make sure nothing
is left unanswered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72532B2F-51A9-0A4A-A93F-A638EA450DB8}"/>
              </a:ext>
            </a:extLst>
          </p:cNvPr>
          <p:cNvSpPr/>
          <p:nvPr/>
        </p:nvSpPr>
        <p:spPr>
          <a:xfrm>
            <a:off x="5930900" y="1587500"/>
            <a:ext cx="762000" cy="762000"/>
          </a:xfrm>
          <a:prstGeom prst="ellipse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2600" b="1">
                <a:solidFill>
                  <a:srgbClr val="FFFFFF"/>
                </a:solidFill>
                <a:latin typeface="Inter"/>
              </a:rPr>
              <a:t>2</a:t>
            </a:r>
            <a:endParaRPr lang="ko-KR" altLang="en-US" sz="2600" b="1">
              <a:solidFill>
                <a:srgbClr val="FFFFFF"/>
              </a:solidFill>
              <a:latin typeface="Inter"/>
            </a:endParaRPr>
          </a:p>
        </p:txBody>
      </p:sp>
      <p:sp>
        <p:nvSpPr>
          <p:cNvPr id="10" name="오른쪽 화살표[R] 9">
            <a:extLst>
              <a:ext uri="{FF2B5EF4-FFF2-40B4-BE49-F238E27FC236}">
                <a16:creationId xmlns:a16="http://schemas.microsoft.com/office/drawing/2014/main" id="{AC3AF0C0-82A0-EF41-9CA4-A246A31929EC}"/>
              </a:ext>
            </a:extLst>
          </p:cNvPr>
          <p:cNvSpPr/>
          <p:nvPr/>
        </p:nvSpPr>
        <p:spPr>
          <a:xfrm>
            <a:off x="7594600" y="1778000"/>
            <a:ext cx="508000" cy="381000"/>
          </a:xfrm>
          <a:prstGeom prst="rightArrow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1BB73F-A2C6-3740-9476-35F14648231C}"/>
              </a:ext>
            </a:extLst>
          </p:cNvPr>
          <p:cNvSpPr txBox="1"/>
          <p:nvPr/>
        </p:nvSpPr>
        <p:spPr>
          <a:xfrm>
            <a:off x="4546600" y="2476500"/>
            <a:ext cx="3530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altLang="ko-KR" b="1">
                <a:solidFill>
                  <a:srgbClr val="1E293B"/>
                </a:solidFill>
                <a:latin typeface="Inter"/>
              </a:rPr>
              <a:t>Click Submit Exam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45D20C79-67A0-1449-AEF5-0DC0EEBA7048}"/>
              </a:ext>
            </a:extLst>
          </p:cNvPr>
          <p:cNvSpPr/>
          <p:nvPr/>
        </p:nvSpPr>
        <p:spPr>
          <a:xfrm>
            <a:off x="4546600" y="2921000"/>
            <a:ext cx="3530600" cy="1206500"/>
          </a:xfrm>
          <a:prstGeom prst="round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8EE26E-685D-D44C-80F3-5D386EDD037C}"/>
              </a:ext>
            </a:extLst>
          </p:cNvPr>
          <p:cNvSpPr txBox="1"/>
          <p:nvPr/>
        </p:nvSpPr>
        <p:spPr>
          <a:xfrm>
            <a:off x="4737100" y="3048000"/>
            <a:ext cx="31496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altLang="ko-KR" sz="1400">
                <a:solidFill>
                  <a:srgbClr val="475569"/>
                </a:solidFill>
                <a:latin typeface="Inter"/>
              </a:rPr>
              <a:t>Click the 'Submit Exam'
button in the top-right
corner of the screen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B648FEE8-F7D9-A84F-9A4B-D83996107A8A}"/>
              </a:ext>
            </a:extLst>
          </p:cNvPr>
          <p:cNvSpPr/>
          <p:nvPr/>
        </p:nvSpPr>
        <p:spPr>
          <a:xfrm>
            <a:off x="9715500" y="1587500"/>
            <a:ext cx="762000" cy="762000"/>
          </a:xfrm>
          <a:prstGeom prst="ellipse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2600" b="1">
                <a:solidFill>
                  <a:srgbClr val="FFFFFF"/>
                </a:solidFill>
                <a:latin typeface="Inter"/>
              </a:rPr>
              <a:t>3</a:t>
            </a:r>
            <a:endParaRPr lang="ko-KR" altLang="en-US" sz="2600" b="1">
              <a:solidFill>
                <a:srgbClr val="FFFFFF"/>
              </a:solidFill>
              <a:latin typeface="Inter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3145BE-4B17-9C4E-B80A-43572974C1F2}"/>
              </a:ext>
            </a:extLst>
          </p:cNvPr>
          <p:cNvSpPr txBox="1"/>
          <p:nvPr/>
        </p:nvSpPr>
        <p:spPr>
          <a:xfrm>
            <a:off x="8331200" y="2476500"/>
            <a:ext cx="3530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altLang="ko-KR" b="1">
                <a:solidFill>
                  <a:srgbClr val="1E293B"/>
                </a:solidFill>
                <a:latin typeface="Inter"/>
              </a:rPr>
              <a:t>Confirm Submission</a:t>
            </a: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8D2FE5C9-0D6F-A140-A234-C0A62726FFE6}"/>
              </a:ext>
            </a:extLst>
          </p:cNvPr>
          <p:cNvSpPr/>
          <p:nvPr/>
        </p:nvSpPr>
        <p:spPr>
          <a:xfrm>
            <a:off x="8331200" y="2921000"/>
            <a:ext cx="3530600" cy="1206500"/>
          </a:xfrm>
          <a:prstGeom prst="round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CADAA9-04E8-F146-8A9E-513FA1206C94}"/>
              </a:ext>
            </a:extLst>
          </p:cNvPr>
          <p:cNvSpPr txBox="1"/>
          <p:nvPr/>
        </p:nvSpPr>
        <p:spPr>
          <a:xfrm>
            <a:off x="8521700" y="3048000"/>
            <a:ext cx="31496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altLang="ko-KR" sz="1400">
                <a:solidFill>
                  <a:srgbClr val="475569"/>
                </a:solidFill>
                <a:latin typeface="Inter"/>
              </a:rPr>
              <a:t>Check the submission
confirmation message
and wait for the next screen</a:t>
            </a: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EBFE4DA9-D2BC-DE49-832A-5E931D205DD9}"/>
              </a:ext>
            </a:extLst>
          </p:cNvPr>
          <p:cNvSpPr/>
          <p:nvPr/>
        </p:nvSpPr>
        <p:spPr>
          <a:xfrm>
            <a:off x="533400" y="4381500"/>
            <a:ext cx="11125200" cy="1016000"/>
          </a:xfrm>
          <a:prstGeom prst="roundRect">
            <a:avLst/>
          </a:prstGeom>
          <a:solidFill>
            <a:srgbClr val="EEF2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0521DC-0389-4542-A1D2-7D2D30E5515D}"/>
              </a:ext>
            </a:extLst>
          </p:cNvPr>
          <p:cNvSpPr txBox="1"/>
          <p:nvPr/>
        </p:nvSpPr>
        <p:spPr>
          <a:xfrm>
            <a:off x="723900" y="4470400"/>
            <a:ext cx="107442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600" b="1">
                <a:solidFill>
                  <a:srgbClr val="3B5CC6"/>
                </a:solidFill>
                <a:latin typeface="Inter"/>
              </a:rPr>
              <a:t>📌  Important Reminders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65914B-E83F-9744-AD83-52657FE46A32}"/>
              </a:ext>
            </a:extLst>
          </p:cNvPr>
          <p:cNvSpPr txBox="1"/>
          <p:nvPr/>
        </p:nvSpPr>
        <p:spPr>
          <a:xfrm>
            <a:off x="723900" y="4826000"/>
            <a:ext cx="107442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475569"/>
                </a:solidFill>
                <a:latin typeface="Inter"/>
              </a:rPr>
              <a:t>• No edits allowed after submission    • Always verify the confirmation message    • Exam is auto-submitted when time expires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C2014CD6-690E-F940-AC78-E833DFD3DA70}"/>
              </a:ext>
            </a:extLst>
          </p:cNvPr>
          <p:cNvSpPr/>
          <p:nvPr/>
        </p:nvSpPr>
        <p:spPr>
          <a:xfrm>
            <a:off x="533400" y="5651500"/>
            <a:ext cx="11125200" cy="698500"/>
          </a:xfrm>
          <a:prstGeom prst="roundRect">
            <a:avLst/>
          </a:prstGeom>
          <a:solidFill>
            <a:srgbClr val="F0FD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4976C7-7F12-CA43-B72E-775EE70C745B}"/>
              </a:ext>
            </a:extLst>
          </p:cNvPr>
          <p:cNvSpPr txBox="1"/>
          <p:nvPr/>
        </p:nvSpPr>
        <p:spPr>
          <a:xfrm>
            <a:off x="723900" y="5778500"/>
            <a:ext cx="10744200" cy="444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altLang="ko-KR" sz="1500" b="1">
                <a:solidFill>
                  <a:srgbClr val="16A34A"/>
                </a:solidFill>
                <a:latin typeface="Inter"/>
              </a:rPr>
              <a:t>✅  After submission, you can check your 'Awaiting Evaluation' status on the dashboard.</a:t>
            </a:r>
          </a:p>
        </p:txBody>
      </p:sp>
    </p:spTree>
    <p:extLst>
      <p:ext uri="{BB962C8B-B14F-4D97-AF65-F5344CB8AC3E}">
        <p14:creationId xmlns:p14="http://schemas.microsoft.com/office/powerpoint/2010/main" val="872085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3E0160-E5CB-6449-AB26-0B2C8A080A92}"/>
              </a:ext>
            </a:extLst>
          </p:cNvPr>
          <p:cNvSpPr txBox="1"/>
          <p:nvPr/>
        </p:nvSpPr>
        <p:spPr>
          <a:xfrm>
            <a:off x="762000" y="381000"/>
            <a:ext cx="254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 b="1">
                <a:solidFill>
                  <a:srgbClr val="3B5CC6"/>
                </a:solidFill>
                <a:latin typeface="Inter"/>
              </a:rPr>
              <a:t>09</a:t>
            </a:r>
            <a:endParaRPr lang="ko-KR" altLang="en-US" sz="1400" b="1">
              <a:solidFill>
                <a:srgbClr val="3B5CC6"/>
              </a:solidFill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7053C4-9E12-9D40-9024-AF027CA123E7}"/>
              </a:ext>
            </a:extLst>
          </p:cNvPr>
          <p:cNvSpPr txBox="1"/>
          <p:nvPr/>
        </p:nvSpPr>
        <p:spPr>
          <a:xfrm>
            <a:off x="762000" y="698500"/>
            <a:ext cx="635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800" b="1">
                <a:solidFill>
                  <a:srgbClr val="1E293B"/>
                </a:solidFill>
                <a:latin typeface="Inter"/>
              </a:rPr>
              <a:t>Frequently Asked Questions (FAQ)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8C88B3C6-E9BB-0544-8AA1-D7C7EDDAD014}"/>
              </a:ext>
            </a:extLst>
          </p:cNvPr>
          <p:cNvSpPr/>
          <p:nvPr/>
        </p:nvSpPr>
        <p:spPr>
          <a:xfrm>
            <a:off x="533400" y="1397000"/>
            <a:ext cx="11125200" cy="889000"/>
          </a:xfrm>
          <a:prstGeom prst="round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480E52C-0D1B-754A-AF93-4BB47FFD286B}"/>
              </a:ext>
            </a:extLst>
          </p:cNvPr>
          <p:cNvSpPr/>
          <p:nvPr/>
        </p:nvSpPr>
        <p:spPr>
          <a:xfrm>
            <a:off x="533400" y="1397000"/>
            <a:ext cx="50800" cy="889000"/>
          </a:xfrm>
          <a:prstGeom prst="rect">
            <a:avLst/>
          </a:prstGeom>
          <a:solidFill>
            <a:srgbClr val="3B5CC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54DAD9-1208-704E-9115-DA2462B86A4E}"/>
              </a:ext>
            </a:extLst>
          </p:cNvPr>
          <p:cNvSpPr txBox="1"/>
          <p:nvPr/>
        </p:nvSpPr>
        <p:spPr>
          <a:xfrm>
            <a:off x="762000" y="14986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500" b="1">
                <a:solidFill>
                  <a:srgbClr val="1E293B"/>
                </a:solidFill>
                <a:latin typeface="Inter"/>
              </a:rPr>
              <a:t>Q. What if the internet disconnects during the exam?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5C9895-3F36-F442-A1A4-AA090893E67A}"/>
              </a:ext>
            </a:extLst>
          </p:cNvPr>
          <p:cNvSpPr txBox="1"/>
          <p:nvPr/>
        </p:nvSpPr>
        <p:spPr>
          <a:xfrm>
            <a:off x="762000" y="18415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64748B"/>
                </a:solidFill>
                <a:latin typeface="Inter"/>
              </a:rPr>
              <a:t>Your answers are auto-saved. Simply reconnect and continue. Note that the timer does not pause.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88B84CED-7C76-AF4E-9AA8-2127C3CFA0C7}"/>
              </a:ext>
            </a:extLst>
          </p:cNvPr>
          <p:cNvSpPr/>
          <p:nvPr/>
        </p:nvSpPr>
        <p:spPr>
          <a:xfrm>
            <a:off x="533400" y="2387600"/>
            <a:ext cx="11125200" cy="889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6C88349-40DD-594A-823F-8D6DBC3333C2}"/>
              </a:ext>
            </a:extLst>
          </p:cNvPr>
          <p:cNvSpPr/>
          <p:nvPr/>
        </p:nvSpPr>
        <p:spPr>
          <a:xfrm>
            <a:off x="533400" y="2387600"/>
            <a:ext cx="50800" cy="889000"/>
          </a:xfrm>
          <a:prstGeom prst="rect">
            <a:avLst/>
          </a:prstGeom>
          <a:solidFill>
            <a:srgbClr val="3B5CC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A3BE2A-28DB-5047-BD6A-0EA59D6999A3}"/>
              </a:ext>
            </a:extLst>
          </p:cNvPr>
          <p:cNvSpPr txBox="1"/>
          <p:nvPr/>
        </p:nvSpPr>
        <p:spPr>
          <a:xfrm>
            <a:off x="762000" y="2489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500" b="1">
                <a:solidFill>
                  <a:srgbClr val="1E293B"/>
                </a:solidFill>
                <a:latin typeface="Inter"/>
              </a:rPr>
              <a:t>Q. Is using the AI Assistant mandatory?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00CA90-1BF3-754B-8347-9716A9CB8392}"/>
              </a:ext>
            </a:extLst>
          </p:cNvPr>
          <p:cNvSpPr txBox="1"/>
          <p:nvPr/>
        </p:nvSpPr>
        <p:spPr>
          <a:xfrm>
            <a:off x="762000" y="28321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64748B"/>
                </a:solidFill>
                <a:latin typeface="Inter"/>
              </a:rPr>
              <a:t>No, but your usage may factor into your grade, so we recommend using it actively.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C9EA2884-C6D9-014C-B62A-7D3220614F76}"/>
              </a:ext>
            </a:extLst>
          </p:cNvPr>
          <p:cNvSpPr/>
          <p:nvPr/>
        </p:nvSpPr>
        <p:spPr>
          <a:xfrm>
            <a:off x="533400" y="3378200"/>
            <a:ext cx="11125200" cy="889000"/>
          </a:xfrm>
          <a:prstGeom prst="round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6705A4B-BE91-E14A-B9BC-F7377B56CAC3}"/>
              </a:ext>
            </a:extLst>
          </p:cNvPr>
          <p:cNvSpPr/>
          <p:nvPr/>
        </p:nvSpPr>
        <p:spPr>
          <a:xfrm>
            <a:off x="533400" y="3378200"/>
            <a:ext cx="50800" cy="889000"/>
          </a:xfrm>
          <a:prstGeom prst="rect">
            <a:avLst/>
          </a:prstGeom>
          <a:solidFill>
            <a:srgbClr val="3B5CC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5B9760-88EC-DA46-BC7F-5FFDAE50EC38}"/>
              </a:ext>
            </a:extLst>
          </p:cNvPr>
          <p:cNvSpPr txBox="1"/>
          <p:nvPr/>
        </p:nvSpPr>
        <p:spPr>
          <a:xfrm>
            <a:off x="762000" y="34798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500" b="1">
                <a:solidFill>
                  <a:srgbClr val="1E293B"/>
                </a:solidFill>
                <a:latin typeface="Inter"/>
              </a:rPr>
              <a:t>Q. Can I edit my answers after submission?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BE73C2-9D32-C74D-8E52-0BBF5D3F60C0}"/>
              </a:ext>
            </a:extLst>
          </p:cNvPr>
          <p:cNvSpPr txBox="1"/>
          <p:nvPr/>
        </p:nvSpPr>
        <p:spPr>
          <a:xfrm>
            <a:off x="762000" y="38227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64748B"/>
                </a:solidFill>
                <a:latin typeface="Inter"/>
              </a:rPr>
              <a:t>No. Once submitted, your answers cannot be edited. Make sure to review carefully before submitting.</a:t>
            </a: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B78420C4-4CF4-FD4B-AC04-7013C6834B07}"/>
              </a:ext>
            </a:extLst>
          </p:cNvPr>
          <p:cNvSpPr/>
          <p:nvPr/>
        </p:nvSpPr>
        <p:spPr>
          <a:xfrm>
            <a:off x="533400" y="4368800"/>
            <a:ext cx="11125200" cy="889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BB5659B-855F-2244-A61E-E9D77847B634}"/>
              </a:ext>
            </a:extLst>
          </p:cNvPr>
          <p:cNvSpPr/>
          <p:nvPr/>
        </p:nvSpPr>
        <p:spPr>
          <a:xfrm>
            <a:off x="533400" y="4368800"/>
            <a:ext cx="50800" cy="889000"/>
          </a:xfrm>
          <a:prstGeom prst="rect">
            <a:avLst/>
          </a:prstGeom>
          <a:solidFill>
            <a:srgbClr val="3B5CC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C6AC4D-589C-CF4E-B316-38CFBEADD50F}"/>
              </a:ext>
            </a:extLst>
          </p:cNvPr>
          <p:cNvSpPr txBox="1"/>
          <p:nvPr/>
        </p:nvSpPr>
        <p:spPr>
          <a:xfrm>
            <a:off x="762000" y="44704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500" b="1">
                <a:solidFill>
                  <a:srgbClr val="1E293B"/>
                </a:solidFill>
                <a:latin typeface="Inter"/>
              </a:rPr>
              <a:t>Q. Is the exam auto-submitted when time runs out?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8B0418-D1F1-564A-9233-E94600DB89DE}"/>
              </a:ext>
            </a:extLst>
          </p:cNvPr>
          <p:cNvSpPr txBox="1"/>
          <p:nvPr/>
        </p:nvSpPr>
        <p:spPr>
          <a:xfrm>
            <a:off x="762000" y="48133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64748B"/>
                </a:solidFill>
                <a:latin typeface="Inter"/>
              </a:rPr>
              <a:t>Yes, your in-progress answers are automatically submitted when time expires.</a:t>
            </a: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3C07C22A-CDAF-2D4E-9049-CAABD0CFED04}"/>
              </a:ext>
            </a:extLst>
          </p:cNvPr>
          <p:cNvSpPr/>
          <p:nvPr/>
        </p:nvSpPr>
        <p:spPr>
          <a:xfrm>
            <a:off x="533400" y="5359400"/>
            <a:ext cx="11125200" cy="889000"/>
          </a:xfrm>
          <a:prstGeom prst="round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878F1BB-78E6-2E4F-90C5-02FE5592AD17}"/>
              </a:ext>
            </a:extLst>
          </p:cNvPr>
          <p:cNvSpPr/>
          <p:nvPr/>
        </p:nvSpPr>
        <p:spPr>
          <a:xfrm>
            <a:off x="533400" y="5359400"/>
            <a:ext cx="50800" cy="889000"/>
          </a:xfrm>
          <a:prstGeom prst="rect">
            <a:avLst/>
          </a:prstGeom>
          <a:solidFill>
            <a:srgbClr val="3B5CC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7D7F4B-5B14-3240-BA13-B0DCF7FDA9E9}"/>
              </a:ext>
            </a:extLst>
          </p:cNvPr>
          <p:cNvSpPr txBox="1"/>
          <p:nvPr/>
        </p:nvSpPr>
        <p:spPr>
          <a:xfrm>
            <a:off x="762000" y="54610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500" b="1">
                <a:solidFill>
                  <a:srgbClr val="1E293B"/>
                </a:solidFill>
                <a:latin typeface="Inter"/>
              </a:rPr>
              <a:t>Q. Does opening another tab count as cheating?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74749D-3C03-0B42-A83C-4CCF353C3451}"/>
              </a:ext>
            </a:extLst>
          </p:cNvPr>
          <p:cNvSpPr txBox="1"/>
          <p:nvPr/>
        </p:nvSpPr>
        <p:spPr>
          <a:xfrm>
            <a:off x="762000" y="58039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64748B"/>
                </a:solidFill>
                <a:latin typeface="Inter"/>
              </a:rPr>
              <a:t>Yes. Leaving the exam screen is logged as suspicious activity and reported to your professor.</a:t>
            </a:r>
          </a:p>
        </p:txBody>
      </p:sp>
    </p:spTree>
    <p:extLst>
      <p:ext uri="{BB962C8B-B14F-4D97-AF65-F5344CB8AC3E}">
        <p14:creationId xmlns:p14="http://schemas.microsoft.com/office/powerpoint/2010/main" val="856776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B11F1E-50EA-664F-9764-57F253C48C2E}"/>
              </a:ext>
            </a:extLst>
          </p:cNvPr>
          <p:cNvSpPr txBox="1"/>
          <p:nvPr/>
        </p:nvSpPr>
        <p:spPr>
          <a:xfrm>
            <a:off x="762000" y="381000"/>
            <a:ext cx="254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 b="1">
                <a:solidFill>
                  <a:srgbClr val="3B5CC6"/>
                </a:solidFill>
                <a:latin typeface="Inter"/>
              </a:rPr>
              <a:t>10</a:t>
            </a:r>
            <a:endParaRPr lang="ko-KR" altLang="en-US" sz="1400" b="1">
              <a:solidFill>
                <a:srgbClr val="3B5CC6"/>
              </a:solidFill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EC7383-0144-714C-9371-E16A28E3CCCB}"/>
              </a:ext>
            </a:extLst>
          </p:cNvPr>
          <p:cNvSpPr txBox="1"/>
          <p:nvPr/>
        </p:nvSpPr>
        <p:spPr>
          <a:xfrm>
            <a:off x="762000" y="698500"/>
            <a:ext cx="635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800" b="1">
                <a:solidFill>
                  <a:srgbClr val="1E293B"/>
                </a:solidFill>
                <a:latin typeface="Inter"/>
              </a:rPr>
              <a:t>Pre-Exam Checklist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56D8B0C8-9F1F-964C-96BC-2D7DC1BD4973}"/>
              </a:ext>
            </a:extLst>
          </p:cNvPr>
          <p:cNvSpPr/>
          <p:nvPr/>
        </p:nvSpPr>
        <p:spPr>
          <a:xfrm>
            <a:off x="762000" y="1460500"/>
            <a:ext cx="355600" cy="355600"/>
          </a:xfrm>
          <a:prstGeom prst="ellipse">
            <a:avLst/>
          </a:prstGeom>
          <a:solidFill>
            <a:srgbClr val="3B5CC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FB0E1C-EDCA-694B-8C04-93D0A73AAA7E}"/>
              </a:ext>
            </a:extLst>
          </p:cNvPr>
          <p:cNvSpPr txBox="1"/>
          <p:nvPr/>
        </p:nvSpPr>
        <p:spPr>
          <a:xfrm>
            <a:off x="1270000" y="1435100"/>
            <a:ext cx="4826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altLang="ko-KR" sz="1600">
                <a:solidFill>
                  <a:srgbClr val="1E293B"/>
                </a:solidFill>
                <a:latin typeface="Inter"/>
              </a:rPr>
              <a:t>Check Chrome browser is up to date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6FFF0717-5815-4C4D-9683-01CE0F3551EF}"/>
              </a:ext>
            </a:extLst>
          </p:cNvPr>
          <p:cNvSpPr/>
          <p:nvPr/>
        </p:nvSpPr>
        <p:spPr>
          <a:xfrm>
            <a:off x="762000" y="2057400"/>
            <a:ext cx="355600" cy="355600"/>
          </a:xfrm>
          <a:prstGeom prst="ellipse">
            <a:avLst/>
          </a:prstGeom>
          <a:solidFill>
            <a:srgbClr val="3B5CC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448B2F-F9A5-E24C-83C4-BC710438E355}"/>
              </a:ext>
            </a:extLst>
          </p:cNvPr>
          <p:cNvSpPr txBox="1"/>
          <p:nvPr/>
        </p:nvSpPr>
        <p:spPr>
          <a:xfrm>
            <a:off x="1270000" y="2032000"/>
            <a:ext cx="4826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altLang="ko-KR" sz="1600">
                <a:solidFill>
                  <a:srgbClr val="1E293B"/>
                </a:solidFill>
                <a:latin typeface="Inter"/>
              </a:rPr>
              <a:t>Check internet connection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9F5B5A8D-71EE-A144-AD2E-26D12356A30D}"/>
              </a:ext>
            </a:extLst>
          </p:cNvPr>
          <p:cNvSpPr/>
          <p:nvPr/>
        </p:nvSpPr>
        <p:spPr>
          <a:xfrm>
            <a:off x="762000" y="2654300"/>
            <a:ext cx="355600" cy="355600"/>
          </a:xfrm>
          <a:prstGeom prst="ellipse">
            <a:avLst/>
          </a:prstGeom>
          <a:solidFill>
            <a:srgbClr val="3B5CC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ED96E5-590D-CD41-B48C-0B54487D56E2}"/>
              </a:ext>
            </a:extLst>
          </p:cNvPr>
          <p:cNvSpPr txBox="1"/>
          <p:nvPr/>
        </p:nvSpPr>
        <p:spPr>
          <a:xfrm>
            <a:off x="1270000" y="2628900"/>
            <a:ext cx="4826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altLang="ko-KR" sz="1600">
                <a:solidFill>
                  <a:srgbClr val="1E293B"/>
                </a:solidFill>
                <a:latin typeface="Inter"/>
              </a:rPr>
              <a:t>Test Quest-On account login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2B8F745A-06B9-FC4C-BE2A-0B37DF80978B}"/>
              </a:ext>
            </a:extLst>
          </p:cNvPr>
          <p:cNvSpPr/>
          <p:nvPr/>
        </p:nvSpPr>
        <p:spPr>
          <a:xfrm>
            <a:off x="762000" y="3251200"/>
            <a:ext cx="355600" cy="355600"/>
          </a:xfrm>
          <a:prstGeom prst="ellipse">
            <a:avLst/>
          </a:prstGeom>
          <a:solidFill>
            <a:srgbClr val="3B5CC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78D36E-062E-8747-B517-6084EB94A6FC}"/>
              </a:ext>
            </a:extLst>
          </p:cNvPr>
          <p:cNvSpPr txBox="1"/>
          <p:nvPr/>
        </p:nvSpPr>
        <p:spPr>
          <a:xfrm>
            <a:off x="1270000" y="3225800"/>
            <a:ext cx="4826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altLang="ko-KR" sz="1600">
                <a:solidFill>
                  <a:srgbClr val="1E293B"/>
                </a:solidFill>
                <a:latin typeface="Inter"/>
              </a:rPr>
              <a:t>Verify exam code in advance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FF90AC9C-1C03-E54F-B45C-D524F96B89E3}"/>
              </a:ext>
            </a:extLst>
          </p:cNvPr>
          <p:cNvSpPr/>
          <p:nvPr/>
        </p:nvSpPr>
        <p:spPr>
          <a:xfrm>
            <a:off x="762000" y="3848100"/>
            <a:ext cx="355600" cy="355600"/>
          </a:xfrm>
          <a:prstGeom prst="ellipse">
            <a:avLst/>
          </a:prstGeom>
          <a:solidFill>
            <a:srgbClr val="3B5CC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8FABCF-C089-5B45-B54C-6EBB695F6819}"/>
              </a:ext>
            </a:extLst>
          </p:cNvPr>
          <p:cNvSpPr txBox="1"/>
          <p:nvPr/>
        </p:nvSpPr>
        <p:spPr>
          <a:xfrm>
            <a:off x="1270000" y="3822700"/>
            <a:ext cx="4826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altLang="ko-KR" sz="1600">
                <a:solidFill>
                  <a:srgbClr val="1E293B"/>
                </a:solidFill>
                <a:latin typeface="Inter"/>
              </a:rPr>
              <a:t>Check exam duration and number of questions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B3F5EA85-9329-3446-AED4-80D60F3194D4}"/>
              </a:ext>
            </a:extLst>
          </p:cNvPr>
          <p:cNvSpPr/>
          <p:nvPr/>
        </p:nvSpPr>
        <p:spPr>
          <a:xfrm>
            <a:off x="6477000" y="1460500"/>
            <a:ext cx="5181600" cy="2222500"/>
          </a:xfrm>
          <a:prstGeom prst="roundRect">
            <a:avLst/>
          </a:prstGeom>
          <a:solidFill>
            <a:srgbClr val="EEF2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D9927-BC4B-BE4A-A7E8-45DFBD134BBB}"/>
              </a:ext>
            </a:extLst>
          </p:cNvPr>
          <p:cNvSpPr txBox="1"/>
          <p:nvPr/>
        </p:nvSpPr>
        <p:spPr>
          <a:xfrm>
            <a:off x="6731000" y="1587500"/>
            <a:ext cx="4673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b="1">
                <a:solidFill>
                  <a:srgbClr val="3B5CC6"/>
                </a:solidFill>
                <a:latin typeface="Inter"/>
              </a:rPr>
              <a:t>🔗  Access Information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AFF1E9-028B-7F47-A329-21BBAEB4C77E}"/>
              </a:ext>
            </a:extLst>
          </p:cNvPr>
          <p:cNvSpPr txBox="1"/>
          <p:nvPr/>
        </p:nvSpPr>
        <p:spPr>
          <a:xfrm>
            <a:off x="6731000" y="2032000"/>
            <a:ext cx="4673600" cy="116955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 dirty="0">
                <a:solidFill>
                  <a:srgbClr val="475569"/>
                </a:solidFill>
                <a:latin typeface="Inter"/>
              </a:rPr>
              <a:t>Access URL
https://www.quest-on.app
Exam Code
6-digit code provided by instructor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0AEC092D-512A-EF4D-A215-E9D5ECC1829F}"/>
              </a:ext>
            </a:extLst>
          </p:cNvPr>
          <p:cNvSpPr/>
          <p:nvPr/>
        </p:nvSpPr>
        <p:spPr>
          <a:xfrm>
            <a:off x="6477000" y="3873500"/>
            <a:ext cx="5181600" cy="1016000"/>
          </a:xfrm>
          <a:prstGeom prst="roundRect">
            <a:avLst/>
          </a:prstGeom>
          <a:solidFill>
            <a:srgbClr val="F0FD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D7267A-7831-7E4F-AA57-28E192764CEC}"/>
              </a:ext>
            </a:extLst>
          </p:cNvPr>
          <p:cNvSpPr txBox="1"/>
          <p:nvPr/>
        </p:nvSpPr>
        <p:spPr>
          <a:xfrm>
            <a:off x="6731000" y="3975100"/>
            <a:ext cx="46736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600" b="1">
                <a:solidFill>
                  <a:srgbClr val="16A34A"/>
                </a:solidFill>
                <a:latin typeface="Inter"/>
              </a:rPr>
              <a:t>💬  Contact Us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FEB247-F0C9-8243-A142-F1BF437A2FF4}"/>
              </a:ext>
            </a:extLst>
          </p:cNvPr>
          <p:cNvSpPr txBox="1"/>
          <p:nvPr/>
        </p:nvSpPr>
        <p:spPr>
          <a:xfrm>
            <a:off x="6731000" y="4318000"/>
            <a:ext cx="46736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475569"/>
                </a:solidFill>
                <a:latin typeface="Inter"/>
              </a:rPr>
              <a:t>Email: questonkr@gmail.com  |  Phone: 010-5096-8981</a:t>
            </a: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200E3A6B-868C-E944-9D87-F53727C77189}"/>
              </a:ext>
            </a:extLst>
          </p:cNvPr>
          <p:cNvSpPr/>
          <p:nvPr/>
        </p:nvSpPr>
        <p:spPr>
          <a:xfrm>
            <a:off x="533400" y="5143500"/>
            <a:ext cx="11125200" cy="698500"/>
          </a:xfrm>
          <a:prstGeom prst="roundRect">
            <a:avLst/>
          </a:prstGeom>
          <a:solidFill>
            <a:srgbClr val="3B5CC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688DBE-FC6E-EB4C-85C9-2CD7D9DC9402}"/>
              </a:ext>
            </a:extLst>
          </p:cNvPr>
          <p:cNvSpPr txBox="1"/>
          <p:nvPr/>
        </p:nvSpPr>
        <p:spPr>
          <a:xfrm>
            <a:off x="723900" y="5207000"/>
            <a:ext cx="10744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000" b="1">
                <a:solidFill>
                  <a:srgbClr val="FFFFFF"/>
                </a:solidFill>
                <a:latin typeface="Inter"/>
              </a:rPr>
              <a:t>Exam Prep Complete! Wishing you the best of luck 🎓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BE96C5-5C86-FA4F-98CF-3BBF6D3869A5}"/>
              </a:ext>
            </a:extLst>
          </p:cNvPr>
          <p:cNvSpPr txBox="1"/>
          <p:nvPr/>
        </p:nvSpPr>
        <p:spPr>
          <a:xfrm>
            <a:off x="723900" y="5524500"/>
            <a:ext cx="107442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FFFFFF"/>
                </a:solidFill>
                <a:latin typeface="Inter"/>
              </a:rPr>
              <a:t>Experience a new era of AI-powered assessment with Quest-On</a:t>
            </a:r>
          </a:p>
        </p:txBody>
      </p:sp>
    </p:spTree>
    <p:extLst>
      <p:ext uri="{BB962C8B-B14F-4D97-AF65-F5344CB8AC3E}">
        <p14:creationId xmlns:p14="http://schemas.microsoft.com/office/powerpoint/2010/main" val="4143040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 [1775540440706]">
  <a:themeElements>
    <a:clrScheme name="Quest-On">
      <a:dk1>
        <a:srgbClr val="1E293B"/>
      </a:dk1>
      <a:lt1>
        <a:srgbClr val="FFFFFF"/>
      </a:lt1>
      <a:dk2>
        <a:srgbClr val="334155"/>
      </a:dk2>
      <a:lt2>
        <a:srgbClr val="F1F5F9"/>
      </a:lt2>
      <a:accent1>
        <a:srgbClr val="3B5CC6"/>
      </a:accent1>
      <a:accent2>
        <a:srgbClr val="22C55E"/>
      </a:accent2>
      <a:accent3>
        <a:srgbClr val="F59E0B"/>
      </a:accent3>
      <a:accent4>
        <a:srgbClr val="57CDFF"/>
      </a:accent4>
      <a:accent5>
        <a:srgbClr val="EF4444"/>
      </a:accent5>
      <a:accent6>
        <a:srgbClr val="64748B"/>
      </a:accent6>
      <a:hlink>
        <a:srgbClr val="467886"/>
      </a:hlink>
      <a:folHlink>
        <a:srgbClr val="96607D"/>
      </a:folHlink>
    </a:clrScheme>
    <a:fontScheme name="Quest-On Fonts">
      <a:majorFont>
        <a:latin typeface="Inter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9AFEE5D-D0A3-3349-B73C-EB0DADE059DE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d212042a-14df-43a4-abc4-687d05c4d6e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883</Words>
  <Application>Microsoft Macintosh PowerPoint</Application>
  <PresentationFormat>와이드스크린</PresentationFormat>
  <Paragraphs>127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Inter</vt:lpstr>
      <vt:lpstr>Arial</vt:lpstr>
      <vt:lpstr>Office 테마 [1775540440706]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Cigro</dc:creator>
  <cp:lastModifiedBy>Cigro</cp:lastModifiedBy>
  <cp:revision>10</cp:revision>
  <dcterms:created xsi:type="dcterms:W3CDTF">2026-04-07T05:12:08Z</dcterms:created>
  <dcterms:modified xsi:type="dcterms:W3CDTF">2026-04-08T00:28:38Z</dcterms:modified>
</cp:coreProperties>
</file>