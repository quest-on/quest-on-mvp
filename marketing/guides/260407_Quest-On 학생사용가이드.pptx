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8" r:id="rId2"/>
    <p:sldId id="270" r:id="rId3"/>
    <p:sldId id="271" r:id="rId4"/>
    <p:sldId id="286" r:id="rId5"/>
    <p:sldId id="273" r:id="rId6"/>
    <p:sldId id="288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10"/>
    <p:restoredTop sz="94622"/>
  </p:normalViewPr>
  <p:slideViewPr>
    <p:cSldViewPr snapToGrid="0">
      <p:cViewPr varScale="1">
        <p:scale>
          <a:sx n="99" d="100"/>
          <a:sy n="99" d="100"/>
        </p:scale>
        <p:origin x="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8F550-3820-E3EF-ACB4-6C026FFE2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E82A67-ABE9-4FA8-4AC7-08C0C54F6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AC0B9F-920C-B7BC-361C-563236813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1AE1FB-C547-83A5-0A96-389E32ED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8CB499-EEC2-61D5-0BE1-E92FF7D3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870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434C9-80DA-1D8A-8552-FD3D4824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72DD5-0116-175D-24B9-D30D2974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23DF0E-A87A-0204-8468-356A6C9C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FD18C-DAE1-9400-B6E1-F8545BBA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2766CB-8165-2327-DE40-8EE00812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09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D0863-8D4A-AC16-240D-BE2C130C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ADB90-FD4A-BD6D-F550-7D18C5693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E90E22-BA33-54B8-1A34-3D10DEAC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BDD4E6-E755-5796-2C45-0DD2423B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A019E-2B63-E4ED-C989-4734922C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439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9B6-80C5-D35F-6245-2C6A91D8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975F9-1A46-5B7C-0F7A-7F492A093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114C8B-6FE4-07EA-3269-CB8D2122C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9213F8-A27A-C584-0269-CE25E76D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F78081-F2EB-BDB7-F6FE-E018CFA9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484C0E-9314-EE6E-6C2E-76E568B5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571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A51F8-81A1-19F2-6805-4E39AA6B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C063-0A11-F765-59B8-1E4CB27CE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D052DF-1AC3-33B8-E620-A5522A7E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B826A1-B589-79F9-3ECC-B525B44C7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BCDF0E-F512-AE3C-AF0A-2D0B29B5F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6F2A38-2320-E6E5-A105-C9F66B927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C48AC7-4386-3391-1FB6-EEB8459C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AE2228-36D1-C985-8DA9-2FA7913D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379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0582D-878A-F2D3-CB5C-19DCE7B7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421A9F-277D-A457-8F09-31434A09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D506C0-4DCD-43DE-8149-0814C0B0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25101C-0B92-AE1E-8653-84BF6F6F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421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F030B9-5894-F87F-2724-9A1141F17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A6E71F-D3C2-7178-C46A-B9BCA6E5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9E33A-6C73-103C-A240-53724C91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966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90EF2-2C42-7B66-B29A-EA83945F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AE894-2969-2121-586D-A27E70E5C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0B53AC-EE72-262B-D716-CA48990D5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B98583-711D-076A-E127-2949BA65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361637-29C6-FD1C-ADE9-96504BCB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1CD8A3-962C-6917-E8A0-61B2704F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003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BF39A-2164-C764-AF38-9D1084E1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703D70-05E5-54D1-849B-521AF9FE5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7888F0-C95B-B77E-E381-DD972D2D7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AB935-72E8-0A29-55FC-3040C326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757E9B-FC40-EEC5-3729-3DC92D47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0BDDE1-0AA0-B8FD-5553-0531D21D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354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E0A3E-B6A7-8D52-D097-987FAB24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EDB36F-7C7B-606B-14CA-A54CD2953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01AC4-0387-B0D6-DB2E-AE83DE30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839662-2CC0-2BF3-4D25-D05EB009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A3986A-4E86-F9AB-23FB-6A32C368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463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1340E4-8BE8-80C3-E69A-923DEC57F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1C6569-A089-5895-2544-20FCFB6A9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FCB566-C458-180F-EF2D-F811E313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0B0AD-93B3-48B8-99E4-D663C305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A0853-8016-B648-4E19-3D4986D6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935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DFF5EA-724E-8AA2-0958-CC4484C5C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32BCF7-BCEC-CCD1-5281-E3D8C7073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B8EC9C-29B4-89BF-ECAF-5844BF6B4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5F04F-12A8-BB49-A874-7C13998915EB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789AAC-4890-B4AE-133F-4FD946E54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9A8CA3-0D4A-583B-BF37-08E825A70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70D02-CCF0-044A-9396-83FEF839D149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00" name="Bottom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57CDFF"/>
              </a:gs>
              <a:gs pos="100000">
                <a:srgbClr val="3B5CC6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0" name="BottomBar"/>
          <p:cNvSpPr/>
          <p:nvPr userDrawn="1"/>
        </p:nvSpPr>
        <p:spPr>
          <a:xfrm>
            <a:off x="0" y="6583050"/>
            <a:ext cx="12192000" cy="274950"/>
          </a:xfrm>
          <a:prstGeom prst="rect">
            <a:avLst/>
          </a:prstGeom>
          <a:gradFill>
            <a:gsLst>
              <a:gs pos="0">
                <a:srgbClr val="57CDFF"/>
              </a:gs>
              <a:gs pos="100000">
                <a:srgbClr val="3B5CC6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1532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E293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E2AA7D-0EA2-D947-933E-6C0700F3C594}"/>
              </a:ext>
            </a:extLst>
          </p:cNvPr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BF05B44-F5DB-4546-B0F1-FC1800D6FA9B}"/>
              </a:ext>
            </a:extLst>
          </p:cNvPr>
          <p:cNvSpPr/>
          <p:nvPr/>
        </p:nvSpPr>
        <p:spPr>
          <a:xfrm>
            <a:off x="3302000" y="508000"/>
            <a:ext cx="2032000" cy="2032000"/>
          </a:xfrm>
          <a:prstGeom prst="ellipse">
            <a:avLst/>
          </a:prstGeom>
          <a:solidFill>
            <a:srgbClr val="4A6B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6536421-AE41-9249-A2EB-EC1265ED5B14}"/>
              </a:ext>
            </a:extLst>
          </p:cNvPr>
          <p:cNvSpPr/>
          <p:nvPr/>
        </p:nvSpPr>
        <p:spPr>
          <a:xfrm>
            <a:off x="-269461" y="4572000"/>
            <a:ext cx="1524000" cy="1524000"/>
          </a:xfrm>
          <a:prstGeom prst="ellipse">
            <a:avLst/>
          </a:prstGeom>
          <a:solidFill>
            <a:srgbClr val="4A6B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82BAB-1C58-F64F-8704-31E0C7A4B49D}"/>
              </a:ext>
            </a:extLst>
          </p:cNvPr>
          <p:cNvSpPr txBox="1"/>
          <p:nvPr/>
        </p:nvSpPr>
        <p:spPr>
          <a:xfrm>
            <a:off x="1574800" y="1836678"/>
            <a:ext cx="1270000" cy="286232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8000" b="1" dirty="0">
                <a:solidFill>
                  <a:srgbClr val="FFFFFF"/>
                </a:solidFill>
              </a:rPr>
              <a:t>Q</a:t>
            </a:r>
            <a:endParaRPr lang="ko-KR" altLang="en-US" sz="18000" b="1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26646-CB85-B948-A12F-6CF3813D666C}"/>
              </a:ext>
            </a:extLst>
          </p:cNvPr>
          <p:cNvSpPr txBox="1"/>
          <p:nvPr/>
        </p:nvSpPr>
        <p:spPr>
          <a:xfrm>
            <a:off x="5334000" y="1524000"/>
            <a:ext cx="635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4200" b="1">
                <a:solidFill>
                  <a:srgbClr val="3B5CC6"/>
                </a:solidFill>
              </a:rPr>
              <a:t>Quest-On</a:t>
            </a:r>
            <a:endParaRPr lang="ko-KR" altLang="en-US" sz="4200" b="1">
              <a:solidFill>
                <a:srgbClr val="3B5CC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8BC60-EC67-D947-8101-5EB522E7EDDD}"/>
              </a:ext>
            </a:extLst>
          </p:cNvPr>
          <p:cNvSpPr txBox="1"/>
          <p:nvPr/>
        </p:nvSpPr>
        <p:spPr>
          <a:xfrm>
            <a:off x="5334000" y="2413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293B"/>
                </a:solidFill>
              </a:rPr>
              <a:t>학생 시험 응시 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23191-27FD-5D4D-B0F3-5959847B6D24}"/>
              </a:ext>
            </a:extLst>
          </p:cNvPr>
          <p:cNvSpPr txBox="1"/>
          <p:nvPr/>
        </p:nvSpPr>
        <p:spPr>
          <a:xfrm>
            <a:off x="5334000" y="3302000"/>
            <a:ext cx="622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64748B"/>
                </a:solidFill>
              </a:rPr>
              <a:t>AI</a:t>
            </a:r>
            <a:r>
              <a:rPr lang="ko-KR" altLang="en-US" sz="1600">
                <a:solidFill>
                  <a:srgbClr val="64748B"/>
                </a:solidFill>
              </a:rPr>
              <a:t>와 함께하는 차세대 교육 평가 시스템
이 가이드를 통해 시험 응시 방법을 안내합니다</a:t>
            </a:r>
            <a:r>
              <a:rPr lang="en-US" altLang="ko-KR" sz="1600">
                <a:solidFill>
                  <a:srgbClr val="64748B"/>
                </a:solidFill>
              </a:rPr>
              <a:t>.</a:t>
            </a:r>
            <a:endParaRPr lang="ko-KR" altLang="en-US" sz="1600">
              <a:solidFill>
                <a:srgbClr val="64748B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0CCD1AF-D6DA-3C41-AC21-65078865E79C}"/>
              </a:ext>
            </a:extLst>
          </p:cNvPr>
          <p:cNvSpPr/>
          <p:nvPr/>
        </p:nvSpPr>
        <p:spPr>
          <a:xfrm>
            <a:off x="5334000" y="4445000"/>
            <a:ext cx="2540000" cy="508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400" b="1" dirty="0">
                <a:solidFill>
                  <a:srgbClr val="3B5CC6"/>
                </a:solidFill>
              </a:rPr>
              <a:t>2026</a:t>
            </a:r>
            <a:r>
              <a:rPr lang="ko-KR" altLang="en-US" sz="1400" b="1" dirty="0">
                <a:solidFill>
                  <a:srgbClr val="3B5CC6"/>
                </a:solidFill>
              </a:rPr>
              <a:t>학년도 </a:t>
            </a:r>
            <a:r>
              <a:rPr lang="en-US" altLang="ko-KR" sz="1400" b="1" dirty="0">
                <a:solidFill>
                  <a:srgbClr val="3B5CC6"/>
                </a:solidFill>
              </a:rPr>
              <a:t>1</a:t>
            </a:r>
            <a:r>
              <a:rPr lang="ko-KR" altLang="en-US" sz="1400" b="1" dirty="0">
                <a:solidFill>
                  <a:srgbClr val="3B5CC6"/>
                </a:solidFill>
              </a:rPr>
              <a:t>학기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E07FF-7FD0-8D4E-AAC4-793166F1EC20}"/>
              </a:ext>
            </a:extLst>
          </p:cNvPr>
          <p:cNvSpPr txBox="1"/>
          <p:nvPr/>
        </p:nvSpPr>
        <p:spPr>
          <a:xfrm>
            <a:off x="5334000" y="6096000"/>
            <a:ext cx="381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dirty="0">
                <a:solidFill>
                  <a:srgbClr val="94A3B8"/>
                </a:solidFill>
              </a:rPr>
              <a:t>v1.0 | </a:t>
            </a:r>
            <a:r>
              <a:rPr lang="ko-KR" altLang="en-US" sz="1400" dirty="0">
                <a:solidFill>
                  <a:srgbClr val="94A3B8"/>
                </a:solidFill>
              </a:rPr>
              <a:t>최종 업데이트</a:t>
            </a:r>
            <a:r>
              <a:rPr lang="en-US" altLang="ko-KR" sz="1400" dirty="0">
                <a:solidFill>
                  <a:srgbClr val="94A3B8"/>
                </a:solidFill>
              </a:rPr>
              <a:t>: 2026</a:t>
            </a:r>
            <a:r>
              <a:rPr lang="ko-KR" altLang="en-US" sz="1400" dirty="0">
                <a:solidFill>
                  <a:srgbClr val="94A3B8"/>
                </a:solidFill>
              </a:rPr>
              <a:t>년 </a:t>
            </a:r>
            <a:r>
              <a:rPr lang="en-US" altLang="ko-KR" sz="1400" dirty="0">
                <a:solidFill>
                  <a:srgbClr val="94A3B8"/>
                </a:solidFill>
              </a:rPr>
              <a:t>4</a:t>
            </a:r>
            <a:r>
              <a:rPr lang="ko-KR" altLang="en-US" sz="1400" dirty="0">
                <a:solidFill>
                  <a:srgbClr val="94A3B8"/>
                </a:solidFill>
              </a:rPr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089185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2C56CC-4BCA-514B-87C0-3BEA58B42A0F}"/>
              </a:ext>
            </a:extLst>
          </p:cNvPr>
          <p:cNvSpPr txBox="1"/>
          <p:nvPr/>
        </p:nvSpPr>
        <p:spPr>
          <a:xfrm>
            <a:off x="762000" y="381000"/>
            <a:ext cx="127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3B5CC6"/>
                </a:solidFill>
              </a:rPr>
              <a:t>ABOUT</a:t>
            </a:r>
            <a:endParaRPr lang="ko-KR" altLang="en-US" sz="1400" b="1">
              <a:solidFill>
                <a:srgbClr val="3B5CC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FF70E-828F-FC4E-8D68-E20D114886ED}"/>
              </a:ext>
            </a:extLst>
          </p:cNvPr>
          <p:cNvSpPr txBox="1"/>
          <p:nvPr/>
        </p:nvSpPr>
        <p:spPr>
          <a:xfrm>
            <a:off x="762000" y="6985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>
                <a:solidFill>
                  <a:srgbClr val="1E293B"/>
                </a:solidFill>
              </a:rPr>
              <a:t>Quest-On</a:t>
            </a:r>
            <a:r>
              <a:rPr lang="ko-KR" altLang="en-US" sz="3200" b="1">
                <a:solidFill>
                  <a:srgbClr val="1E293B"/>
                </a:solidFill>
              </a:rPr>
              <a:t>이란</a:t>
            </a:r>
            <a:r>
              <a:rPr lang="en-US" altLang="ko-KR" sz="3200" b="1">
                <a:solidFill>
                  <a:srgbClr val="1E293B"/>
                </a:solidFill>
              </a:rPr>
              <a:t>?</a:t>
            </a:r>
            <a:endParaRPr lang="ko-KR" altLang="en-US" sz="3200" b="1">
              <a:solidFill>
                <a:srgbClr val="1E293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E75B4-B110-904D-ACEE-393051397609}"/>
              </a:ext>
            </a:extLst>
          </p:cNvPr>
          <p:cNvSpPr txBox="1"/>
          <p:nvPr/>
        </p:nvSpPr>
        <p:spPr>
          <a:xfrm>
            <a:off x="762000" y="13716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64748B"/>
                </a:solidFill>
              </a:rPr>
              <a:t>AI</a:t>
            </a:r>
            <a:r>
              <a:rPr lang="ko-KR" altLang="en-US" sz="1600">
                <a:solidFill>
                  <a:srgbClr val="64748B"/>
                </a:solidFill>
              </a:rPr>
              <a:t>와 함께하는 차세대 교육 평가 플랫폼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8363B0B-820E-E54B-ACED-4514FF94358C}"/>
              </a:ext>
            </a:extLst>
          </p:cNvPr>
          <p:cNvSpPr/>
          <p:nvPr/>
        </p:nvSpPr>
        <p:spPr>
          <a:xfrm>
            <a:off x="762000" y="2095500"/>
            <a:ext cx="3429000" cy="2921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FE907D9-726E-1648-B133-1227360DFFEC}"/>
              </a:ext>
            </a:extLst>
          </p:cNvPr>
          <p:cNvSpPr/>
          <p:nvPr/>
        </p:nvSpPr>
        <p:spPr>
          <a:xfrm>
            <a:off x="1016000" y="2349500"/>
            <a:ext cx="609600" cy="609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/>
              <a:t>✍️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3DE6D-4374-9A4F-AE5B-42317E8C4EFA}"/>
              </a:ext>
            </a:extLst>
          </p:cNvPr>
          <p:cNvSpPr txBox="1"/>
          <p:nvPr/>
        </p:nvSpPr>
        <p:spPr>
          <a:xfrm>
            <a:off x="1016000" y="3111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293B"/>
                </a:solidFill>
              </a:rPr>
              <a:t>서술형 중심 평가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E9799D-DD97-CA40-B49E-98FA9D689FF9}"/>
              </a:ext>
            </a:extLst>
          </p:cNvPr>
          <p:cNvSpPr txBox="1"/>
          <p:nvPr/>
        </p:nvSpPr>
        <p:spPr>
          <a:xfrm>
            <a:off x="1016000" y="3556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</a:rPr>
              <a:t>단순 암기가 아닌</a:t>
            </a:r>
            <a:r>
              <a:rPr lang="en-US" altLang="ko-KR" sz="1400">
                <a:solidFill>
                  <a:srgbClr val="64748B"/>
                </a:solidFill>
              </a:rPr>
              <a:t>,
</a:t>
            </a:r>
            <a:r>
              <a:rPr lang="ko-KR" altLang="en-US" sz="1400">
                <a:solidFill>
                  <a:srgbClr val="64748B"/>
                </a:solidFill>
              </a:rPr>
              <a:t>사고력을 평가합니다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1220970-1A86-B249-9739-653DE24190FF}"/>
              </a:ext>
            </a:extLst>
          </p:cNvPr>
          <p:cNvSpPr/>
          <p:nvPr/>
        </p:nvSpPr>
        <p:spPr>
          <a:xfrm>
            <a:off x="4381500" y="2095500"/>
            <a:ext cx="3429000" cy="2921000"/>
          </a:xfrm>
          <a:prstGeom prst="round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C215508-2435-EE4F-89B1-CF9D31E07529}"/>
              </a:ext>
            </a:extLst>
          </p:cNvPr>
          <p:cNvSpPr/>
          <p:nvPr/>
        </p:nvSpPr>
        <p:spPr>
          <a:xfrm>
            <a:off x="4635500" y="2349500"/>
            <a:ext cx="609600" cy="609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/>
              <a:t>🤖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56EB8-626C-6C4F-8A59-45C68D1E8187}"/>
              </a:ext>
            </a:extLst>
          </p:cNvPr>
          <p:cNvSpPr txBox="1"/>
          <p:nvPr/>
        </p:nvSpPr>
        <p:spPr>
          <a:xfrm>
            <a:off x="4635500" y="3111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 dirty="0">
                <a:solidFill>
                  <a:srgbClr val="1E293B"/>
                </a:solidFill>
              </a:rPr>
              <a:t>시험 도우미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C390D-DF3D-FD4B-9F03-086BECFB95F7}"/>
              </a:ext>
            </a:extLst>
          </p:cNvPr>
          <p:cNvSpPr txBox="1"/>
          <p:nvPr/>
        </p:nvSpPr>
        <p:spPr>
          <a:xfrm>
            <a:off x="4635500" y="3556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64748B"/>
                </a:solidFill>
              </a:rPr>
              <a:t>시험 중 </a:t>
            </a:r>
            <a:r>
              <a:rPr lang="en" altLang="ko-KR" sz="1400" dirty="0">
                <a:solidFill>
                  <a:srgbClr val="64748B"/>
                </a:solidFill>
              </a:rPr>
              <a:t>AI</a:t>
            </a:r>
            <a:r>
              <a:rPr lang="ko-KR" altLang="en-US" sz="1400" dirty="0">
                <a:solidFill>
                  <a:srgbClr val="64748B"/>
                </a:solidFill>
              </a:rPr>
              <a:t>와 대화하며
사고를 확장합니다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55C3DCC-7954-B546-857C-B838EB865E01}"/>
              </a:ext>
            </a:extLst>
          </p:cNvPr>
          <p:cNvSpPr/>
          <p:nvPr/>
        </p:nvSpPr>
        <p:spPr>
          <a:xfrm>
            <a:off x="8001000" y="2095500"/>
            <a:ext cx="3429000" cy="2921000"/>
          </a:xfrm>
          <a:prstGeom prst="roundRect">
            <a:avLst/>
          </a:prstGeom>
          <a:solidFill>
            <a:srgbClr val="FFF7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892EC16-286E-F349-9163-7BE79F1DC9F1}"/>
              </a:ext>
            </a:extLst>
          </p:cNvPr>
          <p:cNvSpPr/>
          <p:nvPr/>
        </p:nvSpPr>
        <p:spPr>
          <a:xfrm>
            <a:off x="8255000" y="2349500"/>
            <a:ext cx="609600" cy="609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/>
              <a:t>📊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9CF1A-5BEA-1347-8B9A-B14BB0467833}"/>
              </a:ext>
            </a:extLst>
          </p:cNvPr>
          <p:cNvSpPr txBox="1"/>
          <p:nvPr/>
        </p:nvSpPr>
        <p:spPr>
          <a:xfrm>
            <a:off x="8255000" y="3111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293B"/>
                </a:solidFill>
              </a:rPr>
              <a:t>과정 중심 평가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3FE1B4-3132-8D42-B199-8FD00542E702}"/>
              </a:ext>
            </a:extLst>
          </p:cNvPr>
          <p:cNvSpPr txBox="1"/>
          <p:nvPr/>
        </p:nvSpPr>
        <p:spPr>
          <a:xfrm>
            <a:off x="8255000" y="3556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</a:rPr>
              <a:t>결과뿐 아니라
풀이 과정을 평가합니다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9A257F2-46A6-FD44-964A-D8BAAFA2E4A8}"/>
              </a:ext>
            </a:extLst>
          </p:cNvPr>
          <p:cNvSpPr/>
          <p:nvPr/>
        </p:nvSpPr>
        <p:spPr>
          <a:xfrm>
            <a:off x="762000" y="5334000"/>
            <a:ext cx="10668000" cy="635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3B5CC6"/>
                </a:solidFill>
              </a:rPr>
              <a:t>💡 기존 시험과 다릅니다 </a:t>
            </a:r>
            <a:r>
              <a:rPr lang="en-US" altLang="ko-KR" sz="1400">
                <a:solidFill>
                  <a:srgbClr val="3B5CC6"/>
                </a:solidFill>
              </a:rPr>
              <a:t>— </a:t>
            </a:r>
            <a:r>
              <a:rPr lang="en" altLang="ko-KR" sz="1400">
                <a:solidFill>
                  <a:srgbClr val="3B5CC6"/>
                </a:solidFill>
              </a:rPr>
              <a:t>AI</a:t>
            </a:r>
            <a:r>
              <a:rPr lang="ko-KR" altLang="en-US" sz="1400">
                <a:solidFill>
                  <a:srgbClr val="3B5CC6"/>
                </a:solidFill>
              </a:rPr>
              <a:t>를 활용하는 것이 허용되며</a:t>
            </a:r>
            <a:r>
              <a:rPr lang="en-US" altLang="ko-KR" sz="1400">
                <a:solidFill>
                  <a:srgbClr val="3B5CC6"/>
                </a:solidFill>
              </a:rPr>
              <a:t>, </a:t>
            </a:r>
            <a:r>
              <a:rPr lang="ko-KR" altLang="en-US" sz="1400">
                <a:solidFill>
                  <a:srgbClr val="3B5CC6"/>
                </a:solidFill>
              </a:rPr>
              <a:t>사고의 과정이 평가됩니다</a:t>
            </a:r>
          </a:p>
        </p:txBody>
      </p:sp>
    </p:spTree>
    <p:extLst>
      <p:ext uri="{BB962C8B-B14F-4D97-AF65-F5344CB8AC3E}">
        <p14:creationId xmlns:p14="http://schemas.microsoft.com/office/powerpoint/2010/main" val="273921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F0DFDB-2FF3-FA41-AAB6-939B10953322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3B5CC6"/>
                </a:solidFill>
              </a:rPr>
              <a:t>HOW TO ACCESS</a:t>
            </a:r>
            <a:endParaRPr lang="ko-KR" altLang="en-US" sz="1400" b="1">
              <a:solidFill>
                <a:srgbClr val="3B5CC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57908-29CB-DA4D-956F-7879E3DFE5F5}"/>
              </a:ext>
            </a:extLst>
          </p:cNvPr>
          <p:cNvSpPr txBox="1"/>
          <p:nvPr/>
        </p:nvSpPr>
        <p:spPr>
          <a:xfrm>
            <a:off x="762000" y="6985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3200" b="1">
                <a:solidFill>
                  <a:srgbClr val="1E293B"/>
                </a:solidFill>
              </a:rPr>
              <a:t>시험 접속 방법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D9BFA22-EBC7-6249-8E14-4657E241F5B2}"/>
              </a:ext>
            </a:extLst>
          </p:cNvPr>
          <p:cNvSpPr/>
          <p:nvPr/>
        </p:nvSpPr>
        <p:spPr>
          <a:xfrm>
            <a:off x="12319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 dirty="0">
                <a:solidFill>
                  <a:srgbClr val="FFFFFF"/>
                </a:solidFill>
              </a:rPr>
              <a:t>1</a:t>
            </a:r>
            <a:endParaRPr lang="ko-KR" altLang="en-US" b="1" dirty="0">
              <a:solidFill>
                <a:srgbClr val="FFFFFF"/>
              </a:solidFill>
            </a:endParaRPr>
          </a:p>
        </p:txBody>
      </p:sp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2B4158ED-0CC0-1A45-A575-BDCF87127D87}"/>
              </a:ext>
            </a:extLst>
          </p:cNvPr>
          <p:cNvSpPr/>
          <p:nvPr/>
        </p:nvSpPr>
        <p:spPr>
          <a:xfrm>
            <a:off x="2413000" y="1803400"/>
            <a:ext cx="279400" cy="2032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CAAE2-9BF7-3D48-8167-FF86FDB5553B}"/>
              </a:ext>
            </a:extLst>
          </p:cNvPr>
          <p:cNvSpPr txBox="1"/>
          <p:nvPr/>
        </p:nvSpPr>
        <p:spPr>
          <a:xfrm>
            <a:off x="5334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1E293B"/>
                </a:solidFill>
              </a:rPr>
              <a:t>사이트 접속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D8D5C-244C-8949-91EC-E9127548D99D}"/>
              </a:ext>
            </a:extLst>
          </p:cNvPr>
          <p:cNvSpPr txBox="1"/>
          <p:nvPr/>
        </p:nvSpPr>
        <p:spPr>
          <a:xfrm>
            <a:off x="5334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" altLang="ko-KR" sz="1400" dirty="0">
                <a:solidFill>
                  <a:srgbClr val="64748B"/>
                </a:solidFill>
              </a:rPr>
              <a:t>quest-</a:t>
            </a:r>
            <a:r>
              <a:rPr lang="en" altLang="ko-KR" sz="1400" dirty="0" err="1">
                <a:solidFill>
                  <a:srgbClr val="64748B"/>
                </a:solidFill>
              </a:rPr>
              <a:t>on.app</a:t>
            </a:r>
            <a:endParaRPr lang="ko-KR" altLang="en-US" sz="1400" dirty="0">
              <a:solidFill>
                <a:srgbClr val="64748B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5ADCFA2-3D2C-2C4A-A5C5-5719C96D8288}"/>
              </a:ext>
            </a:extLst>
          </p:cNvPr>
          <p:cNvSpPr/>
          <p:nvPr/>
        </p:nvSpPr>
        <p:spPr>
          <a:xfrm>
            <a:off x="33655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2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EB56BE97-BC40-2E41-AA54-E99C0DAEDDD5}"/>
              </a:ext>
            </a:extLst>
          </p:cNvPr>
          <p:cNvSpPr/>
          <p:nvPr/>
        </p:nvSpPr>
        <p:spPr>
          <a:xfrm>
            <a:off x="4546600" y="1803400"/>
            <a:ext cx="279400" cy="2032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BF4709-5CA4-C84E-8783-C6D1A02BE2F9}"/>
              </a:ext>
            </a:extLst>
          </p:cNvPr>
          <p:cNvSpPr txBox="1"/>
          <p:nvPr/>
        </p:nvSpPr>
        <p:spPr>
          <a:xfrm>
            <a:off x="26670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1600" b="1">
                <a:solidFill>
                  <a:srgbClr val="1E293B"/>
                </a:solidFill>
              </a:rPr>
              <a:t>로그인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5A8E8-AD9E-8E41-934C-7DB855709546}"/>
              </a:ext>
            </a:extLst>
          </p:cNvPr>
          <p:cNvSpPr txBox="1"/>
          <p:nvPr/>
        </p:nvSpPr>
        <p:spPr>
          <a:xfrm>
            <a:off x="26670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1400" dirty="0">
                <a:solidFill>
                  <a:srgbClr val="64748B"/>
                </a:solidFill>
              </a:rPr>
              <a:t>본인의 학교 계정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1C33478-367C-E741-9673-498039F99DC0}"/>
              </a:ext>
            </a:extLst>
          </p:cNvPr>
          <p:cNvSpPr/>
          <p:nvPr/>
        </p:nvSpPr>
        <p:spPr>
          <a:xfrm>
            <a:off x="54991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3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7521D49C-8D90-754D-86F8-02A77A98E47F}"/>
              </a:ext>
            </a:extLst>
          </p:cNvPr>
          <p:cNvSpPr/>
          <p:nvPr/>
        </p:nvSpPr>
        <p:spPr>
          <a:xfrm>
            <a:off x="6680200" y="1803400"/>
            <a:ext cx="279400" cy="2032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88C76-B85E-D54A-BECD-5681115D7E43}"/>
              </a:ext>
            </a:extLst>
          </p:cNvPr>
          <p:cNvSpPr txBox="1"/>
          <p:nvPr/>
        </p:nvSpPr>
        <p:spPr>
          <a:xfrm>
            <a:off x="48006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1600" b="1">
                <a:solidFill>
                  <a:srgbClr val="1E293B"/>
                </a:solidFill>
              </a:rPr>
              <a:t>코드 입력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5C7BA-BE13-2347-8F89-F339435C24B8}"/>
              </a:ext>
            </a:extLst>
          </p:cNvPr>
          <p:cNvSpPr txBox="1"/>
          <p:nvPr/>
        </p:nvSpPr>
        <p:spPr>
          <a:xfrm>
            <a:off x="48006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</a:rPr>
              <a:t>교수님 제공 코드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03C07FF-82D2-E342-A9CC-D4B81F8DE69D}"/>
              </a:ext>
            </a:extLst>
          </p:cNvPr>
          <p:cNvSpPr/>
          <p:nvPr/>
        </p:nvSpPr>
        <p:spPr>
          <a:xfrm>
            <a:off x="76327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4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7DCE5FE8-D390-624B-B11E-84FC3A778ACE}"/>
              </a:ext>
            </a:extLst>
          </p:cNvPr>
          <p:cNvSpPr/>
          <p:nvPr/>
        </p:nvSpPr>
        <p:spPr>
          <a:xfrm>
            <a:off x="8813800" y="1803400"/>
            <a:ext cx="279400" cy="2032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BBB828-DA8F-A14F-A7B8-9F963A55A6AD}"/>
              </a:ext>
            </a:extLst>
          </p:cNvPr>
          <p:cNvSpPr txBox="1"/>
          <p:nvPr/>
        </p:nvSpPr>
        <p:spPr>
          <a:xfrm>
            <a:off x="69342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1600" b="1">
                <a:solidFill>
                  <a:srgbClr val="1E293B"/>
                </a:solidFill>
              </a:rPr>
              <a:t>시험 확인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C3E83-6AE4-AB4B-BA3B-07EEC609D930}"/>
              </a:ext>
            </a:extLst>
          </p:cNvPr>
          <p:cNvSpPr txBox="1"/>
          <p:nvPr/>
        </p:nvSpPr>
        <p:spPr>
          <a:xfrm>
            <a:off x="69342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</a:rPr>
              <a:t>대시보드에서 확인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B2E6F1C-901E-0246-B95D-53C367C7910D}"/>
              </a:ext>
            </a:extLst>
          </p:cNvPr>
          <p:cNvSpPr/>
          <p:nvPr/>
        </p:nvSpPr>
        <p:spPr>
          <a:xfrm>
            <a:off x="9766300" y="1651000"/>
            <a:ext cx="508000" cy="508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5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D85B8C-A588-6E4E-931E-3597E92DF576}"/>
              </a:ext>
            </a:extLst>
          </p:cNvPr>
          <p:cNvSpPr txBox="1"/>
          <p:nvPr/>
        </p:nvSpPr>
        <p:spPr>
          <a:xfrm>
            <a:off x="9067800" y="2260600"/>
            <a:ext cx="190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1E293B"/>
                </a:solidFill>
              </a:rPr>
              <a:t>시험 시작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726A9C-5BB7-744B-A206-25053A60A910}"/>
              </a:ext>
            </a:extLst>
          </p:cNvPr>
          <p:cNvSpPr txBox="1"/>
          <p:nvPr/>
        </p:nvSpPr>
        <p:spPr>
          <a:xfrm>
            <a:off x="9067800" y="2578100"/>
            <a:ext cx="190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ko-KR" sz="1400">
                <a:solidFill>
                  <a:srgbClr val="64748B"/>
                </a:solidFill>
              </a:rPr>
              <a:t>"</a:t>
            </a:r>
            <a:r>
              <a:rPr lang="ko-KR" altLang="en-US" sz="1400">
                <a:solidFill>
                  <a:srgbClr val="64748B"/>
                </a:solidFill>
              </a:rPr>
              <a:t>시작하기</a:t>
            </a:r>
            <a:r>
              <a:rPr lang="en-US" altLang="ko-KR" sz="1400">
                <a:solidFill>
                  <a:srgbClr val="64748B"/>
                </a:solidFill>
              </a:rPr>
              <a:t>" </a:t>
            </a:r>
            <a:r>
              <a:rPr lang="ko-KR" altLang="en-US" sz="1400">
                <a:solidFill>
                  <a:srgbClr val="64748B"/>
                </a:solidFill>
              </a:rPr>
              <a:t>클릭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0FB659D-5A3F-DA4E-9952-165DFBE17A00}"/>
              </a:ext>
            </a:extLst>
          </p:cNvPr>
          <p:cNvSpPr/>
          <p:nvPr/>
        </p:nvSpPr>
        <p:spPr>
          <a:xfrm>
            <a:off x="762000" y="3302000"/>
            <a:ext cx="5080000" cy="2921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43E4C8-DED8-D749-BE08-ECC4A9072C68}"/>
              </a:ext>
            </a:extLst>
          </p:cNvPr>
          <p:cNvSpPr txBox="1"/>
          <p:nvPr/>
        </p:nvSpPr>
        <p:spPr>
          <a:xfrm>
            <a:off x="762000" y="3365500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94A3B8"/>
                </a:solidFill>
              </a:rPr>
              <a:t>📸 로그인 화면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AB89972-F007-724D-95FD-D6F2010DD891}"/>
              </a:ext>
            </a:extLst>
          </p:cNvPr>
          <p:cNvSpPr/>
          <p:nvPr/>
        </p:nvSpPr>
        <p:spPr>
          <a:xfrm>
            <a:off x="6096000" y="3302000"/>
            <a:ext cx="5334000" cy="2921000"/>
          </a:xfrm>
          <a:prstGeom prst="roundRect">
            <a:avLst/>
          </a:prstGeom>
          <a:solidFill>
            <a:srgbClr val="FFF7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114300" indent="0" algn="l">
              <a:buNone/>
            </a:pPr>
            <a:r>
              <a:rPr lang="ko-KR" sz="1600" b="1" dirty="0">
                <a:solidFill>
                  <a:srgbClr val="B45309"/>
                </a:solidFill>
                <a:latin typeface="Inter"/>
              </a:rPr>
              <a:t>⚠ 접속 전 확인사항</a:t>
            </a:r>
          </a:p>
          <a:p>
            <a:pPr marL="342900" indent="-228600">
              <a:spcBef>
                <a:spcPts val="400"/>
              </a:spcBef>
              <a:buFont typeface="Arial"/>
              <a:buChar char="•"/>
            </a:pPr>
            <a:r>
              <a:rPr lang="ko-KR" sz="1400" dirty="0">
                <a:solidFill>
                  <a:srgbClr val="92400E"/>
                </a:solidFill>
                <a:latin typeface="Inter"/>
              </a:rPr>
              <a:t>Chrome 또는 Edge 브라우저 사용</a:t>
            </a:r>
            <a:endParaRPr lang="en-US" altLang="ko-KR" sz="1400" dirty="0">
              <a:solidFill>
                <a:srgbClr val="92400E"/>
              </a:solidFill>
              <a:latin typeface="Inter"/>
            </a:endParaRPr>
          </a:p>
          <a:p>
            <a:pPr marL="342900" indent="-228600">
              <a:spcBef>
                <a:spcPts val="400"/>
              </a:spcBef>
              <a:buFont typeface="Arial"/>
              <a:buChar char="•"/>
            </a:pPr>
            <a:r>
              <a:rPr lang="ko-KR" altLang="en-US" sz="1400" dirty="0">
                <a:solidFill>
                  <a:srgbClr val="92400E"/>
                </a:solidFill>
                <a:latin typeface="Inter"/>
              </a:rPr>
              <a:t>본인의 학교 공식 계정 가입 권장</a:t>
            </a:r>
            <a:endParaRPr lang="ko-KR" sz="1400" dirty="0">
              <a:solidFill>
                <a:srgbClr val="92400E"/>
              </a:solidFill>
              <a:latin typeface="Inter"/>
            </a:endParaRPr>
          </a:p>
          <a:p>
            <a:pPr marL="3429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92400E"/>
                </a:solidFill>
                <a:latin typeface="Inter"/>
              </a:rPr>
              <a:t>안정적인 인터넷 연결 확인</a:t>
            </a:r>
          </a:p>
          <a:p>
            <a:pPr marL="3429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92400E"/>
                </a:solidFill>
                <a:latin typeface="Inter"/>
              </a:rPr>
              <a:t>시험 코드를 미리 준비</a:t>
            </a:r>
          </a:p>
          <a:p>
            <a:pPr marL="3429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92400E"/>
                </a:solidFill>
                <a:latin typeface="Inter"/>
              </a:rPr>
              <a:t>노트북/데스크톱 PC 권장</a:t>
            </a:r>
          </a:p>
          <a:p>
            <a:pPr marL="3429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92400E"/>
                </a:solidFill>
                <a:latin typeface="Inter"/>
              </a:rPr>
              <a:t>팝업 차단 해제 필요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5522DE2-398F-C70E-126C-840BA18C4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11" y="3632200"/>
            <a:ext cx="4492977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1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8956B-D897-7345-81CA-76A56EEF7B6A}"/>
              </a:ext>
            </a:extLst>
          </p:cNvPr>
          <p:cNvSpPr txBox="1"/>
          <p:nvPr/>
        </p:nvSpPr>
        <p:spPr>
          <a:xfrm>
            <a:off x="533400" y="254000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3B5CC6"/>
                </a:solidFill>
              </a:rPr>
              <a:t>EXAM SCREEN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9FADD-F3AF-6D4C-93BC-FFE1EDFF5E54}"/>
              </a:ext>
            </a:extLst>
          </p:cNvPr>
          <p:cNvSpPr txBox="1"/>
          <p:nvPr/>
        </p:nvSpPr>
        <p:spPr>
          <a:xfrm>
            <a:off x="533400" y="5334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293B"/>
                </a:solidFill>
              </a:rPr>
              <a:t>시험 화면 구성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44BBCB1-4223-BF49-8180-6D5E2AD8782B}"/>
              </a:ext>
            </a:extLst>
          </p:cNvPr>
          <p:cNvSpPr/>
          <p:nvPr/>
        </p:nvSpPr>
        <p:spPr>
          <a:xfrm>
            <a:off x="533400" y="1270000"/>
            <a:ext cx="3829594" cy="1524000"/>
          </a:xfrm>
          <a:prstGeom prst="roundRect">
            <a:avLst/>
          </a:prstGeom>
          <a:solidFill>
            <a:srgbClr val="EEF2FF"/>
          </a:solidFill>
          <a:ln w="25400" cap="flat" cmpd="sng" algn="ctr">
            <a:solidFill>
              <a:srgbClr val="3B5CC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3D13F-CE24-F249-A3E6-A9EB41E0C76F}"/>
              </a:ext>
            </a:extLst>
          </p:cNvPr>
          <p:cNvSpPr txBox="1"/>
          <p:nvPr/>
        </p:nvSpPr>
        <p:spPr>
          <a:xfrm>
            <a:off x="698500" y="13589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3B5CC6"/>
                </a:solidFill>
              </a:rPr>
              <a:t>① </a:t>
            </a:r>
            <a:r>
              <a:rPr lang="ko-KR" altLang="en-US" b="1">
                <a:solidFill>
                  <a:srgbClr val="3B5CC6"/>
                </a:solidFill>
              </a:rPr>
              <a:t>문제 영역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60E52-471A-B649-9AB4-AD39B1C4B3E8}"/>
              </a:ext>
            </a:extLst>
          </p:cNvPr>
          <p:cNvSpPr txBox="1"/>
          <p:nvPr/>
        </p:nvSpPr>
        <p:spPr>
          <a:xfrm>
            <a:off x="698500" y="1651000"/>
            <a:ext cx="4762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Font typeface="Arial"/>
              <a:buChar char="•"/>
            </a:pPr>
            <a:r>
              <a:rPr lang="ko-KR" altLang="en-US" sz="1200" dirty="0">
                <a:solidFill>
                  <a:srgbClr val="475569"/>
                </a:solidFill>
              </a:rPr>
              <a:t>문제 번호로 자유롭게 이동 가능</a:t>
            </a:r>
          </a:p>
          <a:p>
            <a:pPr algn="l">
              <a:buFont typeface="Arial"/>
              <a:buChar char="•"/>
            </a:pPr>
            <a:r>
              <a:rPr lang="ko-KR" altLang="en-US" sz="1200" dirty="0">
                <a:solidFill>
                  <a:srgbClr val="475569"/>
                </a:solidFill>
              </a:rPr>
              <a:t>문제별 배점 확인 가능 / 남은 시간 상단 표시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9237C6D-AE17-9846-B44E-F4CFEAFF5261}"/>
              </a:ext>
            </a:extLst>
          </p:cNvPr>
          <p:cNvSpPr/>
          <p:nvPr/>
        </p:nvSpPr>
        <p:spPr>
          <a:xfrm>
            <a:off x="533400" y="2921000"/>
            <a:ext cx="3829594" cy="1524000"/>
          </a:xfrm>
          <a:prstGeom prst="roundRect">
            <a:avLst/>
          </a:prstGeom>
          <a:solidFill>
            <a:srgbClr val="F0FDF4"/>
          </a:solidFill>
          <a:ln w="254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C02AF-FB64-E94A-93B3-AC94B5110ACA}"/>
              </a:ext>
            </a:extLst>
          </p:cNvPr>
          <p:cNvSpPr txBox="1"/>
          <p:nvPr/>
        </p:nvSpPr>
        <p:spPr>
          <a:xfrm>
            <a:off x="698500" y="30099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b="1">
                <a:solidFill>
                  <a:srgbClr val="16A34A"/>
                </a:solidFill>
              </a:rPr>
              <a:t>② </a:t>
            </a:r>
            <a:r>
              <a:rPr lang="ko-KR" altLang="en-US" b="1">
                <a:solidFill>
                  <a:srgbClr val="16A34A"/>
                </a:solidFill>
              </a:rPr>
              <a:t>답안 작성 영역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B8A38-5AF6-A342-BC69-3883ADAB76E7}"/>
              </a:ext>
            </a:extLst>
          </p:cNvPr>
          <p:cNvSpPr txBox="1"/>
          <p:nvPr/>
        </p:nvSpPr>
        <p:spPr>
          <a:xfrm>
            <a:off x="698500" y="3302000"/>
            <a:ext cx="4762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Font typeface="Arial"/>
              <a:buChar char="•"/>
            </a:pPr>
            <a:r>
              <a:rPr lang="ko-KR" altLang="en-US" sz="1200" dirty="0">
                <a:solidFill>
                  <a:srgbClr val="475569"/>
                </a:solidFill>
              </a:rPr>
              <a:t>자동 저장 기능 지원 / 임시 저장 수동 가능</a:t>
            </a:r>
          </a:p>
          <a:p>
            <a:pPr algn="l">
              <a:buFont typeface="Arial"/>
              <a:buChar char="•"/>
            </a:pPr>
            <a:r>
              <a:rPr lang="ko-KR" altLang="en-US" sz="1200" dirty="0">
                <a:solidFill>
                  <a:srgbClr val="475569"/>
                </a:solidFill>
              </a:rPr>
              <a:t>HTML 에디터로 서식 편집 / 글자 수 실시간 카운트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0B0BB27-D1BF-994F-9226-9DF4BF61C299}"/>
              </a:ext>
            </a:extLst>
          </p:cNvPr>
          <p:cNvSpPr/>
          <p:nvPr/>
        </p:nvSpPr>
        <p:spPr>
          <a:xfrm>
            <a:off x="533400" y="4572000"/>
            <a:ext cx="3829594" cy="1524000"/>
          </a:xfrm>
          <a:prstGeom prst="roundRect">
            <a:avLst/>
          </a:prstGeom>
          <a:solidFill>
            <a:srgbClr val="FFF7ED"/>
          </a:solidFill>
          <a:ln w="25400" cap="flat" cmpd="sng" algn="ctr">
            <a:solidFill>
              <a:srgbClr val="F59E0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D247A-1DDC-504E-B7B5-2F6FD38D6D7C}"/>
              </a:ext>
            </a:extLst>
          </p:cNvPr>
          <p:cNvSpPr txBox="1"/>
          <p:nvPr/>
        </p:nvSpPr>
        <p:spPr>
          <a:xfrm>
            <a:off x="698500" y="46609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>
                <a:solidFill>
                  <a:srgbClr val="F59E0B"/>
                </a:solidFill>
              </a:rPr>
              <a:t>③ AI </a:t>
            </a:r>
            <a:r>
              <a:rPr lang="ko-KR" altLang="en-US" b="1">
                <a:solidFill>
                  <a:srgbClr val="F59E0B"/>
                </a:solidFill>
              </a:rPr>
              <a:t>도우미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CDF459-B40D-7B41-B1D2-E147CC1C0BAB}"/>
              </a:ext>
            </a:extLst>
          </p:cNvPr>
          <p:cNvSpPr txBox="1"/>
          <p:nvPr/>
        </p:nvSpPr>
        <p:spPr>
          <a:xfrm>
            <a:off x="698500" y="4953000"/>
            <a:ext cx="4762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Font typeface="Arial"/>
              <a:buChar char="•"/>
            </a:pPr>
            <a:r>
              <a:rPr lang="ko-KR" altLang="en-US" sz="1200" dirty="0">
                <a:solidFill>
                  <a:srgbClr val="475569"/>
                </a:solidFill>
              </a:rPr>
              <a:t>힌트·방향 제시 (직접 답을 알려주지 않음)</a:t>
            </a:r>
          </a:p>
          <a:p>
            <a:pPr algn="l">
              <a:buFont typeface="Arial"/>
              <a:buChar char="•"/>
            </a:pPr>
            <a:r>
              <a:rPr lang="ko-KR" altLang="en-US" sz="1200" dirty="0">
                <a:solidFill>
                  <a:srgbClr val="475569"/>
                </a:solidFill>
              </a:rPr>
              <a:t>대화 기록 교수자 확인 가능 / 질문 횟수 제한 있음</a:t>
            </a:r>
          </a:p>
        </p:txBody>
      </p:sp>
      <p:pic>
        <p:nvPicPr>
          <p:cNvPr id="13" name="Copied Picture 13">
            <a:extLst>
              <a:ext uri="{FF2B5EF4-FFF2-40B4-BE49-F238E27FC236}">
                <a16:creationId xmlns:a16="http://schemas.microsoft.com/office/drawing/2014/main" id="{356FBE1B-46B1-919C-0769-D4CC298F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094" y="1397000"/>
            <a:ext cx="7478376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4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D9975-CB09-F646-B463-457E2F8A9228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05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33092-A89F-2747-AFE7-E6EA315E702B}"/>
              </a:ext>
            </a:extLst>
          </p:cNvPr>
          <p:cNvSpPr txBox="1"/>
          <p:nvPr/>
        </p:nvSpPr>
        <p:spPr>
          <a:xfrm>
            <a:off x="762000" y="6985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2800" b="1">
                <a:solidFill>
                  <a:srgbClr val="1E293B"/>
                </a:solidFill>
                <a:latin typeface="Inter"/>
              </a:rPr>
              <a:t>AI </a:t>
            </a:r>
            <a:r>
              <a:rPr lang="ko-KR" altLang="en-US" sz="2800" b="1">
                <a:solidFill>
                  <a:srgbClr val="1E293B"/>
                </a:solidFill>
                <a:latin typeface="Inter"/>
              </a:rPr>
              <a:t>도우미</a:t>
            </a:r>
            <a:r>
              <a:rPr lang="en-US" altLang="ko-KR" sz="2800" b="1">
                <a:solidFill>
                  <a:srgbClr val="1E293B"/>
                </a:solidFill>
                <a:latin typeface="Inter"/>
              </a:rPr>
              <a:t>, </a:t>
            </a:r>
            <a:r>
              <a:rPr lang="ko-KR" altLang="en-US" sz="2800" b="1">
                <a:solidFill>
                  <a:srgbClr val="1E293B"/>
                </a:solidFill>
                <a:latin typeface="Inter"/>
              </a:rPr>
              <a:t>이렇게 활용하세요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FC30B55-130F-1B49-BF9E-3BE968902328}"/>
              </a:ext>
            </a:extLst>
          </p:cNvPr>
          <p:cNvSpPr/>
          <p:nvPr/>
        </p:nvSpPr>
        <p:spPr>
          <a:xfrm>
            <a:off x="533400" y="1524000"/>
            <a:ext cx="5334000" cy="4445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Inter"/>
              </a:rPr>
              <a:t>✓  이렇게 활용하세요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809E815-797E-3043-95FE-CC5508AFD011}"/>
              </a:ext>
            </a:extLst>
          </p:cNvPr>
          <p:cNvSpPr/>
          <p:nvPr/>
        </p:nvSpPr>
        <p:spPr>
          <a:xfrm>
            <a:off x="533400" y="2006600"/>
            <a:ext cx="5334000" cy="2667000"/>
          </a:xfrm>
          <a:prstGeom prst="round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C4A31-CE85-FE4A-BACC-EE696B4CDFD1}"/>
              </a:ext>
            </a:extLst>
          </p:cNvPr>
          <p:cNvSpPr txBox="1"/>
          <p:nvPr/>
        </p:nvSpPr>
        <p:spPr>
          <a:xfrm>
            <a:off x="723900" y="2133600"/>
            <a:ext cx="4953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E293B"/>
                </a:solidFill>
                <a:latin typeface="Inter"/>
              </a:rPr>
              <a:t>• 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개념 설명 요청
  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디지털 전환의 정의를 알려줘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
• 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풀이 방향 질문
  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이 문제를 어떻게 접근하면 좋을까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?"
• 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구조화 도움
  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서론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-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본론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-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결론 구조를 잡아줘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</a:t>
            </a:r>
            <a:endParaRPr lang="ko-KR" altLang="en-US" sz="1400">
              <a:solidFill>
                <a:srgbClr val="1E293B"/>
              </a:solidFill>
              <a:latin typeface="Inter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29A6DC1-4AD8-704E-8BE1-C2600FA9F863}"/>
              </a:ext>
            </a:extLst>
          </p:cNvPr>
          <p:cNvSpPr/>
          <p:nvPr/>
        </p:nvSpPr>
        <p:spPr>
          <a:xfrm>
            <a:off x="6096000" y="1524000"/>
            <a:ext cx="5334000" cy="4445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Inter"/>
              </a:rPr>
              <a:t>✗  이렇게 하면 안 돼요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B6B603F-0615-F142-B391-E5097E366A83}"/>
              </a:ext>
            </a:extLst>
          </p:cNvPr>
          <p:cNvSpPr/>
          <p:nvPr/>
        </p:nvSpPr>
        <p:spPr>
          <a:xfrm>
            <a:off x="6096000" y="2006600"/>
            <a:ext cx="5334000" cy="2667000"/>
          </a:xfrm>
          <a:prstGeom prst="round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0D936-703D-4344-9D7C-7D5DB3728627}"/>
              </a:ext>
            </a:extLst>
          </p:cNvPr>
          <p:cNvSpPr txBox="1"/>
          <p:nvPr/>
        </p:nvSpPr>
        <p:spPr>
          <a:xfrm>
            <a:off x="6286500" y="2133600"/>
            <a:ext cx="4953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E293B"/>
                </a:solidFill>
                <a:latin typeface="Inter"/>
              </a:rPr>
              <a:t>• 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정답 직접 요구
  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이 문제 답을 알려줘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 ✗
• 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완성된 답안 요청
  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답안을 대신 작성해줘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" ✗
• 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복사</a:t>
            </a:r>
            <a:r>
              <a:rPr lang="en-US" altLang="ko-KR" sz="1400">
                <a:solidFill>
                  <a:srgbClr val="1E293B"/>
                </a:solidFill>
                <a:latin typeface="Inter"/>
              </a:rPr>
              <a:t>-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붙여넣기
  </a:t>
            </a:r>
            <a:r>
              <a:rPr lang="en" altLang="ko-KR" sz="1400">
                <a:solidFill>
                  <a:srgbClr val="1E293B"/>
                </a:solidFill>
                <a:latin typeface="Inter"/>
              </a:rPr>
              <a:t>AI </a:t>
            </a:r>
            <a:r>
              <a:rPr lang="ko-KR" altLang="en-US" sz="1400">
                <a:solidFill>
                  <a:srgbClr val="1E293B"/>
                </a:solidFill>
                <a:latin typeface="Inter"/>
              </a:rPr>
              <a:t>답변 그대로 복사 제출 ✗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5FBF077-5B1F-5A4D-8602-B2ABF9064902}"/>
              </a:ext>
            </a:extLst>
          </p:cNvPr>
          <p:cNvSpPr/>
          <p:nvPr/>
        </p:nvSpPr>
        <p:spPr>
          <a:xfrm>
            <a:off x="533400" y="4889500"/>
            <a:ext cx="11125200" cy="635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1F02D-2BB4-064B-9ADD-25DCEC5ED82A}"/>
              </a:ext>
            </a:extLst>
          </p:cNvPr>
          <p:cNvSpPr txBox="1"/>
          <p:nvPr/>
        </p:nvSpPr>
        <p:spPr>
          <a:xfrm>
            <a:off x="723900" y="4978400"/>
            <a:ext cx="107442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3B5CC6"/>
                </a:solidFill>
                <a:latin typeface="Inter"/>
              </a:rPr>
              <a:t>💡  </a:t>
            </a:r>
            <a:r>
              <a:rPr lang="en" altLang="ko-KR" sz="1500" b="1">
                <a:solidFill>
                  <a:srgbClr val="3B5CC6"/>
                </a:solidFill>
                <a:latin typeface="Inter"/>
              </a:rPr>
              <a:t>AI </a:t>
            </a:r>
            <a:r>
              <a:rPr lang="ko-KR" altLang="en-US" sz="1500" b="1">
                <a:solidFill>
                  <a:srgbClr val="3B5CC6"/>
                </a:solidFill>
                <a:latin typeface="Inter"/>
              </a:rPr>
              <a:t>도우미는 </a:t>
            </a:r>
            <a:r>
              <a:rPr lang="en-US" altLang="ko-KR" sz="1500" b="1">
                <a:solidFill>
                  <a:srgbClr val="3B5CC6"/>
                </a:solidFill>
                <a:latin typeface="Inter"/>
              </a:rPr>
              <a:t>'</a:t>
            </a:r>
            <a:r>
              <a:rPr lang="ko-KR" altLang="en-US" sz="1500" b="1">
                <a:solidFill>
                  <a:srgbClr val="3B5CC6"/>
                </a:solidFill>
                <a:latin typeface="Inter"/>
              </a:rPr>
              <a:t>사고의 파트너</a:t>
            </a:r>
            <a:r>
              <a:rPr lang="en-US" altLang="ko-KR" sz="1500" b="1">
                <a:solidFill>
                  <a:srgbClr val="3B5CC6"/>
                </a:solidFill>
                <a:latin typeface="Inter"/>
              </a:rPr>
              <a:t>'</a:t>
            </a:r>
            <a:r>
              <a:rPr lang="ko-KR" altLang="en-US" sz="1500" b="1">
                <a:solidFill>
                  <a:srgbClr val="3B5CC6"/>
                </a:solidFill>
                <a:latin typeface="Inter"/>
              </a:rPr>
              <a:t>입니다</a:t>
            </a:r>
            <a:r>
              <a:rPr lang="en-US" altLang="ko-KR" sz="1500" b="1">
                <a:solidFill>
                  <a:srgbClr val="3B5CC6"/>
                </a:solidFill>
                <a:latin typeface="Inter"/>
              </a:rPr>
              <a:t>. </a:t>
            </a:r>
            <a:r>
              <a:rPr lang="ko-KR" altLang="en-US" sz="1500" b="1">
                <a:solidFill>
                  <a:srgbClr val="3B5CC6"/>
                </a:solidFill>
                <a:latin typeface="Inter"/>
              </a:rPr>
              <a:t>답을 구하는 도구가 아니라</a:t>
            </a:r>
            <a:r>
              <a:rPr lang="en-US" altLang="ko-KR" sz="1500" b="1">
                <a:solidFill>
                  <a:srgbClr val="3B5CC6"/>
                </a:solidFill>
                <a:latin typeface="Inter"/>
              </a:rPr>
              <a:t>, </a:t>
            </a:r>
            <a:r>
              <a:rPr lang="ko-KR" altLang="en-US" sz="1500" b="1">
                <a:solidFill>
                  <a:srgbClr val="3B5CC6"/>
                </a:solidFill>
                <a:latin typeface="Inter"/>
              </a:rPr>
              <a:t>생각을 확장하는 데 활용하세요</a:t>
            </a:r>
            <a:r>
              <a:rPr lang="en-US" altLang="ko-KR" sz="1500" b="1">
                <a:solidFill>
                  <a:srgbClr val="3B5CC6"/>
                </a:solidFill>
                <a:latin typeface="Inter"/>
              </a:rPr>
              <a:t>!</a:t>
            </a:r>
            <a:endParaRPr lang="ko-KR" altLang="en-US" sz="15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2ED45-9B58-8C44-985C-C971B3A7702B}"/>
              </a:ext>
            </a:extLst>
          </p:cNvPr>
          <p:cNvSpPr txBox="1"/>
          <p:nvPr/>
        </p:nvSpPr>
        <p:spPr>
          <a:xfrm>
            <a:off x="533400" y="5778500"/>
            <a:ext cx="1112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DC2626"/>
                </a:solidFill>
                <a:latin typeface="Inter"/>
              </a:rPr>
              <a:t>⚠ 모든 </a:t>
            </a:r>
            <a:r>
              <a:rPr lang="en" altLang="ko-KR" sz="1400">
                <a:solidFill>
                  <a:srgbClr val="DC2626"/>
                </a:solidFill>
                <a:latin typeface="Inter"/>
              </a:rPr>
              <a:t>AI </a:t>
            </a:r>
            <a:r>
              <a:rPr lang="ko-KR" altLang="en-US" sz="1400">
                <a:solidFill>
                  <a:srgbClr val="DC2626"/>
                </a:solidFill>
                <a:latin typeface="Inter"/>
              </a:rPr>
              <a:t>대화 기록은 교수자에게 전달되며</a:t>
            </a:r>
            <a:r>
              <a:rPr lang="en-US" altLang="ko-KR" sz="1400">
                <a:solidFill>
                  <a:srgbClr val="DC2626"/>
                </a:solidFill>
                <a:latin typeface="Inter"/>
              </a:rPr>
              <a:t>, </a:t>
            </a:r>
            <a:r>
              <a:rPr lang="ko-KR" altLang="en-US" sz="1400">
                <a:solidFill>
                  <a:srgbClr val="DC2626"/>
                </a:solidFill>
                <a:latin typeface="Inter"/>
              </a:rPr>
              <a:t>평가에 반영될 수 있습니다</a:t>
            </a:r>
            <a:r>
              <a:rPr lang="en-US" altLang="ko-KR" sz="1400">
                <a:solidFill>
                  <a:srgbClr val="DC2626"/>
                </a:solidFill>
                <a:latin typeface="Inter"/>
              </a:rPr>
              <a:t>.</a:t>
            </a:r>
            <a:endParaRPr lang="ko-KR" altLang="en-US" sz="1400">
              <a:solidFill>
                <a:srgbClr val="DC2626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1688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49761D-076E-F342-AFFB-29EF809864B9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06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E057-527C-EF4E-814E-FE79DE650DD9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293B"/>
                </a:solidFill>
                <a:latin typeface="Inter"/>
              </a:rPr>
              <a:t>답안 작성 가이드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A1103AB6-22B8-9042-965E-A750193AE1C2}"/>
              </a:ext>
            </a:extLst>
          </p:cNvPr>
          <p:cNvSpPr/>
          <p:nvPr/>
        </p:nvSpPr>
        <p:spPr>
          <a:xfrm>
            <a:off x="533400" y="1397000"/>
            <a:ext cx="11125200" cy="1397000"/>
          </a:xfrm>
          <a:prstGeom prst="round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1D95B1-5C3D-9849-90EA-F611FC6ED2C5}"/>
              </a:ext>
            </a:extLst>
          </p:cNvPr>
          <p:cNvSpPr txBox="1"/>
          <p:nvPr/>
        </p:nvSpPr>
        <p:spPr>
          <a:xfrm>
            <a:off x="723900" y="1498600"/>
            <a:ext cx="10744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 b="1">
                <a:solidFill>
                  <a:srgbClr val="DC2626"/>
                </a:solidFill>
                <a:latin typeface="Inter"/>
              </a:rPr>
              <a:t>⏰  </a:t>
            </a:r>
            <a:r>
              <a:rPr lang="ko-KR" altLang="en-US" sz="1600" b="1">
                <a:solidFill>
                  <a:srgbClr val="DC2626"/>
                </a:solidFill>
                <a:latin typeface="Inter"/>
              </a:rPr>
              <a:t>남은 시간을 항상 확인하세요</a:t>
            </a:r>
            <a:r>
              <a:rPr lang="en-US" altLang="ko-KR" sz="1600" b="1">
                <a:solidFill>
                  <a:srgbClr val="DC2626"/>
                </a:solidFill>
                <a:latin typeface="Inter"/>
              </a:rPr>
              <a:t>!</a:t>
            </a:r>
            <a:endParaRPr lang="ko-KR" altLang="en-US" sz="160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8F71A2-4687-7144-A92D-210CAF397778}"/>
              </a:ext>
            </a:extLst>
          </p:cNvPr>
          <p:cNvSpPr txBox="1"/>
          <p:nvPr/>
        </p:nvSpPr>
        <p:spPr>
          <a:xfrm>
            <a:off x="723900" y="1905000"/>
            <a:ext cx="10744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Inter"/>
              </a:rPr>
              <a:t>화면 상단에 타이머가 표시됩니다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시간 종료 시 자동 제출되므로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,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마지막 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5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분은 검토 시간으로 남겨두세요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</a:t>
            </a:r>
            <a:endParaRPr lang="ko-KR" altLang="en-US" sz="140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F569008-4D75-2E48-94A8-A4FC191660CB}"/>
              </a:ext>
            </a:extLst>
          </p:cNvPr>
          <p:cNvSpPr/>
          <p:nvPr/>
        </p:nvSpPr>
        <p:spPr>
          <a:xfrm>
            <a:off x="533400" y="3048000"/>
            <a:ext cx="11125200" cy="1397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FE1863-975A-8442-A0DB-4AD8FED5E2EF}"/>
              </a:ext>
            </a:extLst>
          </p:cNvPr>
          <p:cNvSpPr txBox="1"/>
          <p:nvPr/>
        </p:nvSpPr>
        <p:spPr>
          <a:xfrm>
            <a:off x="723900" y="3149600"/>
            <a:ext cx="10744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3B5CC6"/>
                </a:solidFill>
                <a:latin typeface="Inter"/>
              </a:rPr>
              <a:t>💾  자동 저장 안내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06EB7C-1EAF-EC44-B87E-344553E7D403}"/>
              </a:ext>
            </a:extLst>
          </p:cNvPr>
          <p:cNvSpPr txBox="1"/>
          <p:nvPr/>
        </p:nvSpPr>
        <p:spPr>
          <a:xfrm>
            <a:off x="723900" y="3556000"/>
            <a:ext cx="10744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Inter"/>
              </a:rPr>
              <a:t>답안은 자동으로 저장됩니다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하지만 최종 제출 버튼을 반드시 눌러야 채점이 진행됩니다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</a:t>
            </a:r>
            <a:endParaRPr lang="ko-KR" altLang="en-US" sz="1400">
              <a:solidFill>
                <a:srgbClr val="64748B"/>
              </a:solidFill>
              <a:latin typeface="Inter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058A75AB-100A-2B43-91FC-0CDA70FFF255}"/>
              </a:ext>
            </a:extLst>
          </p:cNvPr>
          <p:cNvSpPr/>
          <p:nvPr/>
        </p:nvSpPr>
        <p:spPr>
          <a:xfrm>
            <a:off x="533400" y="4699000"/>
            <a:ext cx="11125200" cy="1397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79FE28-6C19-DB45-95B2-D7338E48D7BA}"/>
              </a:ext>
            </a:extLst>
          </p:cNvPr>
          <p:cNvSpPr txBox="1"/>
          <p:nvPr/>
        </p:nvSpPr>
        <p:spPr>
          <a:xfrm>
            <a:off x="723900" y="5181600"/>
            <a:ext cx="10744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Inter"/>
              </a:rPr>
              <a:t>HTML 에디터로 서식 편집이 가능하며, 작성 중 자동 저장이 지원됩니다.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3900" y="4800600"/>
            <a:ext cx="10744200" cy="355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 sz="1600" b="1">
                <a:solidFill>
                  <a:srgbClr val="F59E0B"/>
                </a:solidFill>
                <a:latin typeface="Inter"/>
              </a:rPr>
              <a:t>✏️  작성 형식 안내</a:t>
            </a:r>
          </a:p>
        </p:txBody>
      </p:sp>
    </p:spTree>
    <p:extLst>
      <p:ext uri="{BB962C8B-B14F-4D97-AF65-F5344CB8AC3E}">
        <p14:creationId xmlns:p14="http://schemas.microsoft.com/office/powerpoint/2010/main" val="242463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D067C8-83BA-EC43-80F2-383AEDD5918D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07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BCDA5-7BF7-7646-B2DB-4FF45B35F786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293B"/>
                </a:solidFill>
                <a:latin typeface="Inter"/>
              </a:rPr>
              <a:t>시험 중 주의사항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C39EE8F-2218-534C-9A05-176FBBE0CD28}"/>
              </a:ext>
            </a:extLst>
          </p:cNvPr>
          <p:cNvSpPr/>
          <p:nvPr/>
        </p:nvSpPr>
        <p:spPr>
          <a:xfrm>
            <a:off x="533400" y="1524000"/>
            <a:ext cx="5435600" cy="1968500"/>
          </a:xfrm>
          <a:prstGeom prst="round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D93FDA-16A3-9846-B95E-E2B68FC2BD3A}"/>
              </a:ext>
            </a:extLst>
          </p:cNvPr>
          <p:cNvSpPr/>
          <p:nvPr/>
        </p:nvSpPr>
        <p:spPr>
          <a:xfrm>
            <a:off x="533400" y="1524000"/>
            <a:ext cx="63500" cy="1968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D5129-03D1-1148-A6F7-31A412546084}"/>
              </a:ext>
            </a:extLst>
          </p:cNvPr>
          <p:cNvSpPr txBox="1"/>
          <p:nvPr/>
        </p:nvSpPr>
        <p:spPr>
          <a:xfrm>
            <a:off x="787400" y="1714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293B"/>
                </a:solidFill>
                <a:latin typeface="Inter"/>
              </a:rPr>
              <a:t>🚫  외부 검색 금지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BC61A-289C-F74A-8320-6D43387523D3}"/>
              </a:ext>
            </a:extLst>
          </p:cNvPr>
          <p:cNvSpPr txBox="1"/>
          <p:nvPr/>
        </p:nvSpPr>
        <p:spPr>
          <a:xfrm>
            <a:off x="787400" y="2222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Inter"/>
              </a:rPr>
              <a:t>시험 중 다른 탭이나
브라우저 사용은
부정행위로 감지됩니다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.</a:t>
            </a:r>
            <a:endParaRPr lang="ko-KR" altLang="en-US" sz="1400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470712F-0C33-4F43-BED2-6802FF68D045}"/>
              </a:ext>
            </a:extLst>
          </p:cNvPr>
          <p:cNvSpPr/>
          <p:nvPr/>
        </p:nvSpPr>
        <p:spPr>
          <a:xfrm>
            <a:off x="6223000" y="1524000"/>
            <a:ext cx="5435600" cy="1968500"/>
          </a:xfrm>
          <a:prstGeom prst="roundRect">
            <a:avLst/>
          </a:prstGeom>
          <a:solidFill>
            <a:srgbClr val="FFF7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433310-7E76-494B-A0AA-0C3070BF7A6F}"/>
              </a:ext>
            </a:extLst>
          </p:cNvPr>
          <p:cNvSpPr/>
          <p:nvPr/>
        </p:nvSpPr>
        <p:spPr>
          <a:xfrm>
            <a:off x="6223000" y="1524000"/>
            <a:ext cx="63500" cy="19685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9E31F1-A4CE-1049-AEBB-5C0AA794D695}"/>
              </a:ext>
            </a:extLst>
          </p:cNvPr>
          <p:cNvSpPr txBox="1"/>
          <p:nvPr/>
        </p:nvSpPr>
        <p:spPr>
          <a:xfrm>
            <a:off x="6477000" y="1714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293B"/>
                </a:solidFill>
                <a:latin typeface="Inter"/>
              </a:rPr>
              <a:t>📋  복사</a:t>
            </a:r>
            <a:r>
              <a:rPr lang="en-US" altLang="ko-KR" b="1">
                <a:solidFill>
                  <a:srgbClr val="1E293B"/>
                </a:solidFill>
                <a:latin typeface="Inter"/>
              </a:rPr>
              <a:t>·</a:t>
            </a:r>
            <a:r>
              <a:rPr lang="ko-KR" altLang="en-US" b="1">
                <a:solidFill>
                  <a:srgbClr val="1E293B"/>
                </a:solidFill>
                <a:latin typeface="Inter"/>
              </a:rPr>
              <a:t>붙여넣기 감지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8AFE50-7823-6B44-8E18-5953979B99C5}"/>
              </a:ext>
            </a:extLst>
          </p:cNvPr>
          <p:cNvSpPr txBox="1"/>
          <p:nvPr/>
        </p:nvSpPr>
        <p:spPr>
          <a:xfrm>
            <a:off x="6477000" y="2222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Inter"/>
              </a:rPr>
              <a:t>외부 텍스트 붙여넣기는
자동으로 기록되며
교수자에게 전달됩니다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.</a:t>
            </a:r>
            <a:endParaRPr lang="ko-KR" altLang="en-US" sz="140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0942951-DC10-9D4F-97D8-F6EC6F557E09}"/>
              </a:ext>
            </a:extLst>
          </p:cNvPr>
          <p:cNvSpPr/>
          <p:nvPr/>
        </p:nvSpPr>
        <p:spPr>
          <a:xfrm>
            <a:off x="533400" y="3683000"/>
            <a:ext cx="5435600" cy="1968500"/>
          </a:xfrm>
          <a:prstGeom prst="round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142465-1F65-A34E-A330-B836ED7AE51F}"/>
              </a:ext>
            </a:extLst>
          </p:cNvPr>
          <p:cNvSpPr/>
          <p:nvPr/>
        </p:nvSpPr>
        <p:spPr>
          <a:xfrm>
            <a:off x="533400" y="3683000"/>
            <a:ext cx="63500" cy="1968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BB40FF-A63D-DE4A-93CA-8B4AB5C25FBF}"/>
              </a:ext>
            </a:extLst>
          </p:cNvPr>
          <p:cNvSpPr txBox="1"/>
          <p:nvPr/>
        </p:nvSpPr>
        <p:spPr>
          <a:xfrm>
            <a:off x="787400" y="3873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293B"/>
                </a:solidFill>
                <a:latin typeface="Inter"/>
              </a:rPr>
              <a:t>🖥️  화면 이탈 기록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EA3D2E-67C4-1348-BFA2-A40B3BE8C0BF}"/>
              </a:ext>
            </a:extLst>
          </p:cNvPr>
          <p:cNvSpPr txBox="1"/>
          <p:nvPr/>
        </p:nvSpPr>
        <p:spPr>
          <a:xfrm>
            <a:off x="787400" y="4381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Inter"/>
              </a:rPr>
              <a:t>시험 화면을 벗어나면
이탈 횟수와 시간이
자동 기록됩니다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.</a:t>
            </a:r>
            <a:endParaRPr lang="ko-KR" altLang="en-US" sz="140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97673AF-ED8A-3E4C-B22A-211F3432F6EB}"/>
              </a:ext>
            </a:extLst>
          </p:cNvPr>
          <p:cNvSpPr/>
          <p:nvPr/>
        </p:nvSpPr>
        <p:spPr>
          <a:xfrm>
            <a:off x="6223000" y="3683000"/>
            <a:ext cx="5435600" cy="1968500"/>
          </a:xfrm>
          <a:prstGeom prst="roundRect">
            <a:avLst/>
          </a:prstGeom>
          <a:solidFill>
            <a:srgbClr val="FFF7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649B33-FD18-7541-897E-BA56363D19AF}"/>
              </a:ext>
            </a:extLst>
          </p:cNvPr>
          <p:cNvSpPr/>
          <p:nvPr/>
        </p:nvSpPr>
        <p:spPr>
          <a:xfrm>
            <a:off x="6223000" y="3683000"/>
            <a:ext cx="63500" cy="19685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3E528-E93E-C044-82BE-B81432BE69F9}"/>
              </a:ext>
            </a:extLst>
          </p:cNvPr>
          <p:cNvSpPr txBox="1"/>
          <p:nvPr/>
        </p:nvSpPr>
        <p:spPr>
          <a:xfrm>
            <a:off x="6477000" y="3873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>
                <a:solidFill>
                  <a:srgbClr val="1E293B"/>
                </a:solidFill>
                <a:latin typeface="Inter"/>
              </a:rPr>
              <a:t>⏰  </a:t>
            </a:r>
            <a:r>
              <a:rPr lang="ko-KR" altLang="en-US" b="1">
                <a:solidFill>
                  <a:srgbClr val="1E293B"/>
                </a:solidFill>
                <a:latin typeface="Inter"/>
              </a:rPr>
              <a:t>시간 관리 필수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60B8FA-A745-DD41-9807-ADFC126B69D0}"/>
              </a:ext>
            </a:extLst>
          </p:cNvPr>
          <p:cNvSpPr txBox="1"/>
          <p:nvPr/>
        </p:nvSpPr>
        <p:spPr>
          <a:xfrm>
            <a:off x="6477000" y="4381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Inter"/>
              </a:rPr>
              <a:t>제한 시간 종료 시
자동 제출됩니다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.
</a:t>
            </a:r>
            <a:r>
              <a:rPr lang="ko-KR" altLang="en-US" sz="1400">
                <a:solidFill>
                  <a:srgbClr val="475569"/>
                </a:solidFill>
                <a:latin typeface="Inter"/>
              </a:rPr>
              <a:t>반드시 여유를 두세요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.</a:t>
            </a:r>
            <a:endParaRPr lang="ko-KR" altLang="en-US" sz="140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2D55960-7A27-5442-BB1B-4107A47AC5B1}"/>
              </a:ext>
            </a:extLst>
          </p:cNvPr>
          <p:cNvSpPr/>
          <p:nvPr/>
        </p:nvSpPr>
        <p:spPr>
          <a:xfrm>
            <a:off x="533400" y="5969000"/>
            <a:ext cx="11125200" cy="5080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7451E3-94DC-C249-8E3F-206FB41F90D4}"/>
              </a:ext>
            </a:extLst>
          </p:cNvPr>
          <p:cNvSpPr txBox="1"/>
          <p:nvPr/>
        </p:nvSpPr>
        <p:spPr>
          <a:xfrm>
            <a:off x="723900" y="6032500"/>
            <a:ext cx="10744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Inter"/>
              </a:rPr>
              <a:t>⚠  부정행위 적발 시 </a:t>
            </a:r>
            <a:r>
              <a:rPr lang="en-US" altLang="ko-KR" sz="1500" b="1">
                <a:solidFill>
                  <a:srgbClr val="FFFFFF"/>
                </a:solidFill>
                <a:latin typeface="Inter"/>
              </a:rPr>
              <a:t>0</a:t>
            </a:r>
            <a:r>
              <a:rPr lang="ko-KR" altLang="en-US" sz="1500" b="1">
                <a:solidFill>
                  <a:srgbClr val="FFFFFF"/>
                </a:solidFill>
                <a:latin typeface="Inter"/>
              </a:rPr>
              <a:t>점 처리 및 학칙에 따른 징계가 진행됩니다</a:t>
            </a:r>
            <a:r>
              <a:rPr lang="en-US" altLang="ko-KR" sz="1500" b="1">
                <a:solidFill>
                  <a:srgbClr val="FFFFFF"/>
                </a:solidFill>
                <a:latin typeface="Inter"/>
              </a:rPr>
              <a:t>.</a:t>
            </a:r>
            <a:endParaRPr lang="ko-KR" altLang="en-US" sz="1500" b="1">
              <a:solidFill>
                <a:srgbClr val="FFFFFF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16631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1E443-15C1-B140-8E18-40BB75ED6961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08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A8D82-D275-E148-814D-BB1BD91F4B45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293B"/>
                </a:solidFill>
                <a:latin typeface="Inter"/>
              </a:rPr>
              <a:t>시험 제출 과정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73624EB-BD33-6141-B1C2-E9F1E5FA7F58}"/>
              </a:ext>
            </a:extLst>
          </p:cNvPr>
          <p:cNvSpPr/>
          <p:nvPr/>
        </p:nvSpPr>
        <p:spPr>
          <a:xfrm>
            <a:off x="2146300" y="1587500"/>
            <a:ext cx="762000" cy="7620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2600" b="1" dirty="0">
                <a:solidFill>
                  <a:srgbClr val="FFFFFF"/>
                </a:solidFill>
                <a:latin typeface="Inter"/>
              </a:rPr>
              <a:t>1</a:t>
            </a:r>
            <a:endParaRPr lang="ko-KR" altLang="en-US" sz="26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6B58859D-737F-564B-8681-05652B699A49}"/>
              </a:ext>
            </a:extLst>
          </p:cNvPr>
          <p:cNvSpPr/>
          <p:nvPr/>
        </p:nvSpPr>
        <p:spPr>
          <a:xfrm>
            <a:off x="3810000" y="1778000"/>
            <a:ext cx="508000" cy="3810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5286C-3137-4A4B-860C-141199E661E9}"/>
              </a:ext>
            </a:extLst>
          </p:cNvPr>
          <p:cNvSpPr txBox="1"/>
          <p:nvPr/>
        </p:nvSpPr>
        <p:spPr>
          <a:xfrm>
            <a:off x="762000" y="2476500"/>
            <a:ext cx="353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293B"/>
                </a:solidFill>
                <a:latin typeface="Inter"/>
              </a:rPr>
              <a:t>답안 최종 검토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2955710-2C5E-4E4D-A55A-BCB8D449A4B7}"/>
              </a:ext>
            </a:extLst>
          </p:cNvPr>
          <p:cNvSpPr/>
          <p:nvPr/>
        </p:nvSpPr>
        <p:spPr>
          <a:xfrm>
            <a:off x="762000" y="2921000"/>
            <a:ext cx="3530600" cy="12065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B0C2E-865D-3840-B5E1-3C30BFE0DB61}"/>
              </a:ext>
            </a:extLst>
          </p:cNvPr>
          <p:cNvSpPr txBox="1"/>
          <p:nvPr/>
        </p:nvSpPr>
        <p:spPr>
          <a:xfrm>
            <a:off x="952500" y="3048000"/>
            <a:ext cx="31496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Inter"/>
              </a:rPr>
              <a:t>모든 문제의 답안을
다시 읽어보고
누락 없는지 확인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2532B2F-51A9-0A4A-A93F-A638EA450DB8}"/>
              </a:ext>
            </a:extLst>
          </p:cNvPr>
          <p:cNvSpPr/>
          <p:nvPr/>
        </p:nvSpPr>
        <p:spPr>
          <a:xfrm>
            <a:off x="5930900" y="1587500"/>
            <a:ext cx="762000" cy="7620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2600" b="1">
                <a:solidFill>
                  <a:srgbClr val="FFFFFF"/>
                </a:solidFill>
                <a:latin typeface="Inter"/>
              </a:rPr>
              <a:t>2</a:t>
            </a:r>
            <a:endParaRPr lang="ko-KR" altLang="en-US" sz="26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AC3AF0C0-82A0-EF41-9CA4-A246A31929EC}"/>
              </a:ext>
            </a:extLst>
          </p:cNvPr>
          <p:cNvSpPr/>
          <p:nvPr/>
        </p:nvSpPr>
        <p:spPr>
          <a:xfrm>
            <a:off x="7594600" y="1778000"/>
            <a:ext cx="508000" cy="381000"/>
          </a:xfrm>
          <a:prstGeom prst="rightArrow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BB73F-A2C6-3740-9476-35F14648231C}"/>
              </a:ext>
            </a:extLst>
          </p:cNvPr>
          <p:cNvSpPr txBox="1"/>
          <p:nvPr/>
        </p:nvSpPr>
        <p:spPr>
          <a:xfrm>
            <a:off x="4546600" y="2476500"/>
            <a:ext cx="353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293B"/>
                </a:solidFill>
                <a:latin typeface="Inter"/>
              </a:rPr>
              <a:t>시험 제출하기 클릭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5D20C79-67A0-1449-AEF5-0DC0EEBA7048}"/>
              </a:ext>
            </a:extLst>
          </p:cNvPr>
          <p:cNvSpPr/>
          <p:nvPr/>
        </p:nvSpPr>
        <p:spPr>
          <a:xfrm>
            <a:off x="4546600" y="2921000"/>
            <a:ext cx="3530600" cy="12065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8EE26E-685D-D44C-80F3-5D386EDD037C}"/>
              </a:ext>
            </a:extLst>
          </p:cNvPr>
          <p:cNvSpPr txBox="1"/>
          <p:nvPr/>
        </p:nvSpPr>
        <p:spPr>
          <a:xfrm>
            <a:off x="4737100" y="3048000"/>
            <a:ext cx="31496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Inter"/>
              </a:rPr>
              <a:t>화면 우측 상단의
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'</a:t>
            </a:r>
            <a:r>
              <a:rPr lang="ko-KR" altLang="en-US" sz="1400">
                <a:solidFill>
                  <a:srgbClr val="475569"/>
                </a:solidFill>
                <a:latin typeface="Inter"/>
              </a:rPr>
              <a:t>시험 제출하기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'
</a:t>
            </a:r>
            <a:r>
              <a:rPr lang="ko-KR" altLang="en-US" sz="1400">
                <a:solidFill>
                  <a:srgbClr val="475569"/>
                </a:solidFill>
                <a:latin typeface="Inter"/>
              </a:rPr>
              <a:t>버튼을 클릭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648FEE8-F7D9-A84F-9A4B-D83996107A8A}"/>
              </a:ext>
            </a:extLst>
          </p:cNvPr>
          <p:cNvSpPr/>
          <p:nvPr/>
        </p:nvSpPr>
        <p:spPr>
          <a:xfrm>
            <a:off x="9715500" y="1587500"/>
            <a:ext cx="762000" cy="762000"/>
          </a:xfrm>
          <a:prstGeom prst="ellipse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2600" b="1">
                <a:solidFill>
                  <a:srgbClr val="FFFFFF"/>
                </a:solidFill>
                <a:latin typeface="Inter"/>
              </a:rPr>
              <a:t>3</a:t>
            </a:r>
            <a:endParaRPr lang="ko-KR" altLang="en-US" sz="26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3145BE-4B17-9C4E-B80A-43572974C1F2}"/>
              </a:ext>
            </a:extLst>
          </p:cNvPr>
          <p:cNvSpPr txBox="1"/>
          <p:nvPr/>
        </p:nvSpPr>
        <p:spPr>
          <a:xfrm>
            <a:off x="8331200" y="2476500"/>
            <a:ext cx="353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293B"/>
                </a:solidFill>
                <a:latin typeface="Inter"/>
              </a:rPr>
              <a:t>제출 확인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D2FE5C9-0D6F-A140-A234-C0A62726FFE6}"/>
              </a:ext>
            </a:extLst>
          </p:cNvPr>
          <p:cNvSpPr/>
          <p:nvPr/>
        </p:nvSpPr>
        <p:spPr>
          <a:xfrm>
            <a:off x="8331200" y="2921000"/>
            <a:ext cx="3530600" cy="12065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CADAA9-04E8-F146-8A9E-513FA1206C94}"/>
              </a:ext>
            </a:extLst>
          </p:cNvPr>
          <p:cNvSpPr txBox="1"/>
          <p:nvPr/>
        </p:nvSpPr>
        <p:spPr>
          <a:xfrm>
            <a:off x="8521700" y="3048000"/>
            <a:ext cx="31496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Inter"/>
              </a:rPr>
              <a:t>제출 완료 메시지를
확인하고 화면이
전환될 때까지 대기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EBFE4DA9-D2BC-DE49-832A-5E931D205DD9}"/>
              </a:ext>
            </a:extLst>
          </p:cNvPr>
          <p:cNvSpPr/>
          <p:nvPr/>
        </p:nvSpPr>
        <p:spPr>
          <a:xfrm>
            <a:off x="533400" y="4381500"/>
            <a:ext cx="11125200" cy="1016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521DC-0389-4542-A1D2-7D2D30E5515D}"/>
              </a:ext>
            </a:extLst>
          </p:cNvPr>
          <p:cNvSpPr txBox="1"/>
          <p:nvPr/>
        </p:nvSpPr>
        <p:spPr>
          <a:xfrm>
            <a:off x="723900" y="4470400"/>
            <a:ext cx="107442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3B5CC6"/>
                </a:solidFill>
                <a:latin typeface="Inter"/>
              </a:rPr>
              <a:t>📌  제출 시 유의사항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65914B-E83F-9744-AD83-52657FE46A32}"/>
              </a:ext>
            </a:extLst>
          </p:cNvPr>
          <p:cNvSpPr txBox="1"/>
          <p:nvPr/>
        </p:nvSpPr>
        <p:spPr>
          <a:xfrm>
            <a:off x="723900" y="4826000"/>
            <a:ext cx="107442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Inter"/>
              </a:rPr>
              <a:t>• </a:t>
            </a:r>
            <a:r>
              <a:rPr lang="ko-KR" altLang="en-US" sz="1400">
                <a:solidFill>
                  <a:srgbClr val="475569"/>
                </a:solidFill>
                <a:latin typeface="Inter"/>
              </a:rPr>
              <a:t>제출 후에는 수정이 불가합니다    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• </a:t>
            </a:r>
            <a:r>
              <a:rPr lang="ko-KR" altLang="en-US" sz="1400">
                <a:solidFill>
                  <a:srgbClr val="475569"/>
                </a:solidFill>
                <a:latin typeface="Inter"/>
              </a:rPr>
              <a:t>제출 확인 메시지를 반드시 확인하세요    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• </a:t>
            </a:r>
            <a:r>
              <a:rPr lang="ko-KR" altLang="en-US" sz="1400">
                <a:solidFill>
                  <a:srgbClr val="475569"/>
                </a:solidFill>
                <a:latin typeface="Inter"/>
              </a:rPr>
              <a:t>시간 종료 시 자동 제출됩니다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2014CD6-690E-F940-AC78-E833DFD3DA70}"/>
              </a:ext>
            </a:extLst>
          </p:cNvPr>
          <p:cNvSpPr/>
          <p:nvPr/>
        </p:nvSpPr>
        <p:spPr>
          <a:xfrm>
            <a:off x="533400" y="5651500"/>
            <a:ext cx="11125200" cy="698500"/>
          </a:xfrm>
          <a:prstGeom prst="round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4976C7-7F12-CA43-B72E-775EE70C745B}"/>
              </a:ext>
            </a:extLst>
          </p:cNvPr>
          <p:cNvSpPr txBox="1"/>
          <p:nvPr/>
        </p:nvSpPr>
        <p:spPr>
          <a:xfrm>
            <a:off x="723900" y="5778500"/>
            <a:ext cx="107442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500" b="1">
                <a:solidFill>
                  <a:srgbClr val="16A34A"/>
                </a:solidFill>
                <a:latin typeface="Inter"/>
              </a:rPr>
              <a:t>✅  제출 완료 후 대시보드에서 </a:t>
            </a:r>
            <a:r>
              <a:rPr lang="en-US" altLang="ko-KR" sz="1500" b="1">
                <a:solidFill>
                  <a:srgbClr val="16A34A"/>
                </a:solidFill>
                <a:latin typeface="Inter"/>
              </a:rPr>
              <a:t>'</a:t>
            </a:r>
            <a:r>
              <a:rPr lang="ko-KR" altLang="en-US" sz="1500" b="1">
                <a:solidFill>
                  <a:srgbClr val="16A34A"/>
                </a:solidFill>
                <a:latin typeface="Inter"/>
              </a:rPr>
              <a:t>평가 대기</a:t>
            </a:r>
            <a:r>
              <a:rPr lang="en-US" altLang="ko-KR" sz="1500" b="1">
                <a:solidFill>
                  <a:srgbClr val="16A34A"/>
                </a:solidFill>
                <a:latin typeface="Inter"/>
              </a:rPr>
              <a:t>' </a:t>
            </a:r>
            <a:r>
              <a:rPr lang="ko-KR" altLang="en-US" sz="1500" b="1">
                <a:solidFill>
                  <a:srgbClr val="16A34A"/>
                </a:solidFill>
                <a:latin typeface="Inter"/>
              </a:rPr>
              <a:t>상태를 확인할 수 있습니다</a:t>
            </a:r>
            <a:r>
              <a:rPr lang="en-US" altLang="ko-KR" sz="1500" b="1">
                <a:solidFill>
                  <a:srgbClr val="16A34A"/>
                </a:solidFill>
                <a:latin typeface="Inter"/>
              </a:rPr>
              <a:t>.</a:t>
            </a:r>
            <a:endParaRPr lang="ko-KR" altLang="en-US" sz="1500" b="1">
              <a:solidFill>
                <a:srgbClr val="16A34A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710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3E0160-E5CB-6449-AB26-0B2C8A080A92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09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3C4-9E12-9D40-9024-AF027CA123E7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293B"/>
                </a:solidFill>
                <a:latin typeface="Inter"/>
              </a:rPr>
              <a:t>자주 묻는 질문 </a:t>
            </a:r>
            <a:r>
              <a:rPr lang="en-US" altLang="ko-KR" sz="2800" b="1">
                <a:solidFill>
                  <a:srgbClr val="1E293B"/>
                </a:solidFill>
                <a:latin typeface="Inter"/>
              </a:rPr>
              <a:t>(</a:t>
            </a:r>
            <a:r>
              <a:rPr lang="en" altLang="ko-KR" sz="2800" b="1">
                <a:solidFill>
                  <a:srgbClr val="1E293B"/>
                </a:solidFill>
                <a:latin typeface="Inter"/>
              </a:rPr>
              <a:t>FAQ)</a:t>
            </a:r>
            <a:endParaRPr lang="ko-KR" altLang="en-US" sz="2800" b="1">
              <a:solidFill>
                <a:srgbClr val="1E293B"/>
              </a:solidFill>
              <a:latin typeface="Inter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C88B3C6-E9BB-0544-8AA1-D7C7EDDAD014}"/>
              </a:ext>
            </a:extLst>
          </p:cNvPr>
          <p:cNvSpPr/>
          <p:nvPr/>
        </p:nvSpPr>
        <p:spPr>
          <a:xfrm>
            <a:off x="533400" y="1397000"/>
            <a:ext cx="11125200" cy="889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80E52C-0D1B-754A-AF93-4BB47FFD286B}"/>
              </a:ext>
            </a:extLst>
          </p:cNvPr>
          <p:cNvSpPr/>
          <p:nvPr/>
        </p:nvSpPr>
        <p:spPr>
          <a:xfrm>
            <a:off x="533400" y="13970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4DAD9-1208-704E-9115-DA2462B86A4E}"/>
              </a:ext>
            </a:extLst>
          </p:cNvPr>
          <p:cNvSpPr txBox="1"/>
          <p:nvPr/>
        </p:nvSpPr>
        <p:spPr>
          <a:xfrm>
            <a:off x="762000" y="14986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500" b="1">
                <a:solidFill>
                  <a:srgbClr val="1E293B"/>
                </a:solidFill>
                <a:latin typeface="Inter"/>
              </a:rPr>
              <a:t>Q. </a:t>
            </a:r>
            <a:r>
              <a:rPr lang="ko-KR" altLang="en-US" sz="1500" b="1">
                <a:solidFill>
                  <a:srgbClr val="1E293B"/>
                </a:solidFill>
                <a:latin typeface="Inter"/>
              </a:rPr>
              <a:t>시험 중 인터넷이 끊기면 어떻게 하나요</a:t>
            </a:r>
            <a:r>
              <a:rPr lang="en-US" altLang="ko-KR" sz="1500" b="1">
                <a:solidFill>
                  <a:srgbClr val="1E293B"/>
                </a:solidFill>
                <a:latin typeface="Inter"/>
              </a:rPr>
              <a:t>?</a:t>
            </a:r>
            <a:endParaRPr lang="ko-KR" altLang="en-US" sz="1500" b="1">
              <a:solidFill>
                <a:srgbClr val="1E293B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C9895-3F36-F442-A1A4-AA090893E67A}"/>
              </a:ext>
            </a:extLst>
          </p:cNvPr>
          <p:cNvSpPr txBox="1"/>
          <p:nvPr/>
        </p:nvSpPr>
        <p:spPr>
          <a:xfrm>
            <a:off x="762000" y="1841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Inter"/>
              </a:rPr>
              <a:t>답안은 자동 저장됩니다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재접속 후 이어서 작성하세요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단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,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시간은 계속 흐릅니다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</a:t>
            </a:r>
            <a:endParaRPr lang="ko-KR" altLang="en-US" sz="1400">
              <a:solidFill>
                <a:srgbClr val="64748B"/>
              </a:solidFill>
              <a:latin typeface="Inter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8B84CED-7C76-AF4E-9AA8-2127C3CFA0C7}"/>
              </a:ext>
            </a:extLst>
          </p:cNvPr>
          <p:cNvSpPr/>
          <p:nvPr/>
        </p:nvSpPr>
        <p:spPr>
          <a:xfrm>
            <a:off x="533400" y="2387600"/>
            <a:ext cx="11125200" cy="889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C88349-40DD-594A-823F-8D6DBC3333C2}"/>
              </a:ext>
            </a:extLst>
          </p:cNvPr>
          <p:cNvSpPr/>
          <p:nvPr/>
        </p:nvSpPr>
        <p:spPr>
          <a:xfrm>
            <a:off x="533400" y="23876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3BE2A-28DB-5047-BD6A-0EA59D6999A3}"/>
              </a:ext>
            </a:extLst>
          </p:cNvPr>
          <p:cNvSpPr txBox="1"/>
          <p:nvPr/>
        </p:nvSpPr>
        <p:spPr>
          <a:xfrm>
            <a:off x="762000" y="2489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500" b="1">
                <a:solidFill>
                  <a:srgbClr val="1E293B"/>
                </a:solidFill>
                <a:latin typeface="Inter"/>
              </a:rPr>
              <a:t>Q. AI </a:t>
            </a:r>
            <a:r>
              <a:rPr lang="ko-KR" altLang="en-US" sz="1500" b="1">
                <a:solidFill>
                  <a:srgbClr val="1E293B"/>
                </a:solidFill>
                <a:latin typeface="Inter"/>
              </a:rPr>
              <a:t>도우미를 꼭 사용해야 하나요</a:t>
            </a:r>
            <a:r>
              <a:rPr lang="en-US" altLang="ko-KR" sz="1500" b="1">
                <a:solidFill>
                  <a:srgbClr val="1E293B"/>
                </a:solidFill>
                <a:latin typeface="Inter"/>
              </a:rPr>
              <a:t>?</a:t>
            </a:r>
            <a:endParaRPr lang="ko-KR" altLang="en-US" sz="1500" b="1">
              <a:solidFill>
                <a:srgbClr val="1E293B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0CA90-1BF3-754B-8347-9716A9CB8392}"/>
              </a:ext>
            </a:extLst>
          </p:cNvPr>
          <p:cNvSpPr txBox="1"/>
          <p:nvPr/>
        </p:nvSpPr>
        <p:spPr>
          <a:xfrm>
            <a:off x="762000" y="28321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Inter"/>
              </a:rPr>
              <a:t>필수는 아닙니다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하지만 활용 과정 자체가 평가에 반영될 수 있으므로 적극 활용을 권장합니다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</a:t>
            </a:r>
            <a:endParaRPr lang="ko-KR" altLang="en-US" sz="140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9EA2884-C6D9-014C-B62A-7D3220614F76}"/>
              </a:ext>
            </a:extLst>
          </p:cNvPr>
          <p:cNvSpPr/>
          <p:nvPr/>
        </p:nvSpPr>
        <p:spPr>
          <a:xfrm>
            <a:off x="533400" y="3378200"/>
            <a:ext cx="11125200" cy="889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705A4B-BE91-E14A-B9BC-F7377B56CAC3}"/>
              </a:ext>
            </a:extLst>
          </p:cNvPr>
          <p:cNvSpPr/>
          <p:nvPr/>
        </p:nvSpPr>
        <p:spPr>
          <a:xfrm>
            <a:off x="533400" y="33782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B9760-88EC-DA46-BC7F-5FFDAE50EC38}"/>
              </a:ext>
            </a:extLst>
          </p:cNvPr>
          <p:cNvSpPr txBox="1"/>
          <p:nvPr/>
        </p:nvSpPr>
        <p:spPr>
          <a:xfrm>
            <a:off x="762000" y="34798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500" b="1">
                <a:solidFill>
                  <a:srgbClr val="1E293B"/>
                </a:solidFill>
                <a:latin typeface="Inter"/>
              </a:rPr>
              <a:t>Q. </a:t>
            </a:r>
            <a:r>
              <a:rPr lang="ko-KR" altLang="en-US" sz="1500" b="1">
                <a:solidFill>
                  <a:srgbClr val="1E293B"/>
                </a:solidFill>
                <a:latin typeface="Inter"/>
              </a:rPr>
              <a:t>제출 후 수정할 수 있나요</a:t>
            </a:r>
            <a:r>
              <a:rPr lang="en-US" altLang="ko-KR" sz="1500" b="1">
                <a:solidFill>
                  <a:srgbClr val="1E293B"/>
                </a:solidFill>
                <a:latin typeface="Inter"/>
              </a:rPr>
              <a:t>?</a:t>
            </a:r>
            <a:endParaRPr lang="ko-KR" altLang="en-US" sz="1500" b="1">
              <a:solidFill>
                <a:srgbClr val="1E293B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BE73C2-9D32-C74D-8E52-0BBF5D3F60C0}"/>
              </a:ext>
            </a:extLst>
          </p:cNvPr>
          <p:cNvSpPr txBox="1"/>
          <p:nvPr/>
        </p:nvSpPr>
        <p:spPr>
          <a:xfrm>
            <a:off x="762000" y="38227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Inter"/>
              </a:rPr>
              <a:t>제출 후에는 수정이 불가합니다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제출 전 반드시 최종 검토하세요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</a:t>
            </a:r>
            <a:endParaRPr lang="ko-KR" altLang="en-US" sz="140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B78420C4-4CF4-FD4B-AC04-7013C6834B07}"/>
              </a:ext>
            </a:extLst>
          </p:cNvPr>
          <p:cNvSpPr/>
          <p:nvPr/>
        </p:nvSpPr>
        <p:spPr>
          <a:xfrm>
            <a:off x="533400" y="4368800"/>
            <a:ext cx="11125200" cy="889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B5659B-855F-2244-A61E-E9D77847B634}"/>
              </a:ext>
            </a:extLst>
          </p:cNvPr>
          <p:cNvSpPr/>
          <p:nvPr/>
        </p:nvSpPr>
        <p:spPr>
          <a:xfrm>
            <a:off x="533400" y="43688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C6AC4D-589C-CF4E-B316-38CFBEADD50F}"/>
              </a:ext>
            </a:extLst>
          </p:cNvPr>
          <p:cNvSpPr txBox="1"/>
          <p:nvPr/>
        </p:nvSpPr>
        <p:spPr>
          <a:xfrm>
            <a:off x="762000" y="44704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500" b="1">
                <a:solidFill>
                  <a:srgbClr val="1E293B"/>
                </a:solidFill>
                <a:latin typeface="Inter"/>
              </a:rPr>
              <a:t>Q. </a:t>
            </a:r>
            <a:r>
              <a:rPr lang="ko-KR" altLang="en-US" sz="1500" b="1">
                <a:solidFill>
                  <a:srgbClr val="1E293B"/>
                </a:solidFill>
                <a:latin typeface="Inter"/>
              </a:rPr>
              <a:t>시간이 끝나면 자동으로 제출되나요</a:t>
            </a:r>
            <a:r>
              <a:rPr lang="en-US" altLang="ko-KR" sz="1500" b="1">
                <a:solidFill>
                  <a:srgbClr val="1E293B"/>
                </a:solidFill>
                <a:latin typeface="Inter"/>
              </a:rPr>
              <a:t>?</a:t>
            </a:r>
            <a:endParaRPr lang="ko-KR" altLang="en-US" sz="1500" b="1">
              <a:solidFill>
                <a:srgbClr val="1E293B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8B0418-D1F1-564A-9233-E94600DB89DE}"/>
              </a:ext>
            </a:extLst>
          </p:cNvPr>
          <p:cNvSpPr txBox="1"/>
          <p:nvPr/>
        </p:nvSpPr>
        <p:spPr>
          <a:xfrm>
            <a:off x="762000" y="48133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Inter"/>
              </a:rPr>
              <a:t>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,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시간 종료 시 작성 중인 답안이 자동 제출됩니다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</a:t>
            </a:r>
            <a:endParaRPr lang="ko-KR" altLang="en-US" sz="1400">
              <a:solidFill>
                <a:srgbClr val="64748B"/>
              </a:solidFill>
              <a:latin typeface="Inter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C07C22A-CDAF-2D4E-9049-CAABD0CFED04}"/>
              </a:ext>
            </a:extLst>
          </p:cNvPr>
          <p:cNvSpPr/>
          <p:nvPr/>
        </p:nvSpPr>
        <p:spPr>
          <a:xfrm>
            <a:off x="533400" y="5359400"/>
            <a:ext cx="11125200" cy="889000"/>
          </a:xfrm>
          <a:prstGeom prst="round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78F1BB-78E6-2E4F-90C5-02FE5592AD17}"/>
              </a:ext>
            </a:extLst>
          </p:cNvPr>
          <p:cNvSpPr/>
          <p:nvPr/>
        </p:nvSpPr>
        <p:spPr>
          <a:xfrm>
            <a:off x="533400" y="5359400"/>
            <a:ext cx="50800" cy="889000"/>
          </a:xfrm>
          <a:prstGeom prst="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7D7F4B-5B14-3240-BA13-B0DCF7FDA9E9}"/>
              </a:ext>
            </a:extLst>
          </p:cNvPr>
          <p:cNvSpPr txBox="1"/>
          <p:nvPr/>
        </p:nvSpPr>
        <p:spPr>
          <a:xfrm>
            <a:off x="762000" y="5461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500" b="1">
                <a:solidFill>
                  <a:srgbClr val="1E293B"/>
                </a:solidFill>
                <a:latin typeface="Inter"/>
              </a:rPr>
              <a:t>Q. </a:t>
            </a:r>
            <a:r>
              <a:rPr lang="ko-KR" altLang="en-US" sz="1500" b="1">
                <a:solidFill>
                  <a:srgbClr val="1E293B"/>
                </a:solidFill>
                <a:latin typeface="Inter"/>
              </a:rPr>
              <a:t>다른 탭을 열면 부정행위인가요</a:t>
            </a:r>
            <a:r>
              <a:rPr lang="en-US" altLang="ko-KR" sz="1500" b="1">
                <a:solidFill>
                  <a:srgbClr val="1E293B"/>
                </a:solidFill>
                <a:latin typeface="Inter"/>
              </a:rPr>
              <a:t>?</a:t>
            </a:r>
            <a:endParaRPr lang="ko-KR" altLang="en-US" sz="1500" b="1">
              <a:solidFill>
                <a:srgbClr val="1E293B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74749D-3C03-0B42-A83C-4CCF353C3451}"/>
              </a:ext>
            </a:extLst>
          </p:cNvPr>
          <p:cNvSpPr txBox="1"/>
          <p:nvPr/>
        </p:nvSpPr>
        <p:spPr>
          <a:xfrm>
            <a:off x="762000" y="58039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Inter"/>
              </a:rPr>
              <a:t>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, </a:t>
            </a:r>
            <a:r>
              <a:rPr lang="ko-KR" altLang="en-US" sz="1400">
                <a:solidFill>
                  <a:srgbClr val="64748B"/>
                </a:solidFill>
                <a:latin typeface="Inter"/>
              </a:rPr>
              <a:t>시험 화면 이탈은 부정행위 의심 활동으로 기록되며 교수자에게 전달됩니다</a:t>
            </a:r>
            <a:r>
              <a:rPr lang="en-US" altLang="ko-KR" sz="1400">
                <a:solidFill>
                  <a:srgbClr val="64748B"/>
                </a:solidFill>
                <a:latin typeface="Inter"/>
              </a:rPr>
              <a:t>.</a:t>
            </a:r>
            <a:endParaRPr lang="ko-KR" altLang="en-US" sz="1400">
              <a:solidFill>
                <a:srgbClr val="64748B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1368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B11F1E-50EA-664F-9764-57F253C48C2E}"/>
              </a:ext>
            </a:extLst>
          </p:cNvPr>
          <p:cNvSpPr txBox="1"/>
          <p:nvPr/>
        </p:nvSpPr>
        <p:spPr>
          <a:xfrm>
            <a:off x="762000" y="3810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3B5CC6"/>
                </a:solidFill>
                <a:latin typeface="Inter"/>
              </a:rPr>
              <a:t>10</a:t>
            </a:r>
            <a:endParaRPr lang="ko-KR" altLang="en-US" sz="1400" b="1">
              <a:solidFill>
                <a:srgbClr val="3B5CC6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C7383-0144-714C-9371-E16A28E3CCCB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293B"/>
                </a:solidFill>
                <a:latin typeface="Inter"/>
              </a:rPr>
              <a:t>시험 전 체크리스트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6D8B0C8-9F1F-964C-96BC-2D7DC1BD4973}"/>
              </a:ext>
            </a:extLst>
          </p:cNvPr>
          <p:cNvSpPr/>
          <p:nvPr/>
        </p:nvSpPr>
        <p:spPr>
          <a:xfrm>
            <a:off x="762000" y="14605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B0E1C-EDCA-694B-8C04-93D0A73AAA7E}"/>
              </a:ext>
            </a:extLst>
          </p:cNvPr>
          <p:cNvSpPr txBox="1"/>
          <p:nvPr/>
        </p:nvSpPr>
        <p:spPr>
          <a:xfrm>
            <a:off x="1270000" y="14351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600">
                <a:solidFill>
                  <a:srgbClr val="1E293B"/>
                </a:solidFill>
                <a:latin typeface="Inter"/>
              </a:rPr>
              <a:t>Chrome </a:t>
            </a:r>
            <a:r>
              <a:rPr lang="ko-KR" altLang="en-US" sz="1600">
                <a:solidFill>
                  <a:srgbClr val="1E293B"/>
                </a:solidFill>
                <a:latin typeface="Inter"/>
              </a:rPr>
              <a:t>브라우저 최신 버전 확인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FFF0717-5815-4C4D-9683-01CE0F3551EF}"/>
              </a:ext>
            </a:extLst>
          </p:cNvPr>
          <p:cNvSpPr/>
          <p:nvPr/>
        </p:nvSpPr>
        <p:spPr>
          <a:xfrm>
            <a:off x="762000" y="20574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48B2F-F9A5-E24C-83C4-BC710438E355}"/>
              </a:ext>
            </a:extLst>
          </p:cNvPr>
          <p:cNvSpPr txBox="1"/>
          <p:nvPr/>
        </p:nvSpPr>
        <p:spPr>
          <a:xfrm>
            <a:off x="1270000" y="20320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600">
                <a:solidFill>
                  <a:srgbClr val="1E293B"/>
                </a:solidFill>
                <a:latin typeface="Inter"/>
              </a:rPr>
              <a:t>인터넷 연결 상태 확인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F5B5A8D-71EE-A144-AD2E-26D12356A30D}"/>
              </a:ext>
            </a:extLst>
          </p:cNvPr>
          <p:cNvSpPr/>
          <p:nvPr/>
        </p:nvSpPr>
        <p:spPr>
          <a:xfrm>
            <a:off x="762000" y="26543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D96E5-590D-CD41-B48C-0B54487D56E2}"/>
              </a:ext>
            </a:extLst>
          </p:cNvPr>
          <p:cNvSpPr txBox="1"/>
          <p:nvPr/>
        </p:nvSpPr>
        <p:spPr>
          <a:xfrm>
            <a:off x="1270000" y="26289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600">
                <a:solidFill>
                  <a:srgbClr val="1E293B"/>
                </a:solidFill>
                <a:latin typeface="Inter"/>
              </a:rPr>
              <a:t>Quest-On </a:t>
            </a:r>
            <a:r>
              <a:rPr lang="ko-KR" altLang="en-US" sz="1600">
                <a:solidFill>
                  <a:srgbClr val="1E293B"/>
                </a:solidFill>
                <a:latin typeface="Inter"/>
              </a:rPr>
              <a:t>계정 로그인 테스트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B8F745A-06B9-FC4C-BE2A-0B37DF80978B}"/>
              </a:ext>
            </a:extLst>
          </p:cNvPr>
          <p:cNvSpPr/>
          <p:nvPr/>
        </p:nvSpPr>
        <p:spPr>
          <a:xfrm>
            <a:off x="762000" y="32512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78D36E-062E-8747-B517-6084EB94A6FC}"/>
              </a:ext>
            </a:extLst>
          </p:cNvPr>
          <p:cNvSpPr txBox="1"/>
          <p:nvPr/>
        </p:nvSpPr>
        <p:spPr>
          <a:xfrm>
            <a:off x="1270000" y="32258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600">
                <a:solidFill>
                  <a:srgbClr val="1E293B"/>
                </a:solidFill>
                <a:latin typeface="Inter"/>
              </a:rPr>
              <a:t>시험 코드 사전 확인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F90AC9C-1C03-E54F-B45C-D524F96B89E3}"/>
              </a:ext>
            </a:extLst>
          </p:cNvPr>
          <p:cNvSpPr/>
          <p:nvPr/>
        </p:nvSpPr>
        <p:spPr>
          <a:xfrm>
            <a:off x="762000" y="3848100"/>
            <a:ext cx="355600" cy="355600"/>
          </a:xfrm>
          <a:prstGeom prst="ellipse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FABCF-C089-5B45-B54C-6EBB695F6819}"/>
              </a:ext>
            </a:extLst>
          </p:cNvPr>
          <p:cNvSpPr txBox="1"/>
          <p:nvPr/>
        </p:nvSpPr>
        <p:spPr>
          <a:xfrm>
            <a:off x="1270000" y="38227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600">
                <a:solidFill>
                  <a:srgbClr val="1E293B"/>
                </a:solidFill>
                <a:latin typeface="Inter"/>
              </a:rPr>
              <a:t>시험 시간 및 문제 수 파악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3F5EA85-9329-3446-AED4-80D60F3194D4}"/>
              </a:ext>
            </a:extLst>
          </p:cNvPr>
          <p:cNvSpPr/>
          <p:nvPr/>
        </p:nvSpPr>
        <p:spPr>
          <a:xfrm>
            <a:off x="6477000" y="1460500"/>
            <a:ext cx="5181600" cy="22225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D9927-BC4B-BE4A-A7E8-45DFBD134BBB}"/>
              </a:ext>
            </a:extLst>
          </p:cNvPr>
          <p:cNvSpPr txBox="1"/>
          <p:nvPr/>
        </p:nvSpPr>
        <p:spPr>
          <a:xfrm>
            <a:off x="6731000" y="1587500"/>
            <a:ext cx="467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3B5CC6"/>
                </a:solidFill>
                <a:latin typeface="Inter"/>
              </a:rPr>
              <a:t>🔗  접속 정보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AFF1E9-028B-7F47-A329-21BBAEB4C77E}"/>
              </a:ext>
            </a:extLst>
          </p:cNvPr>
          <p:cNvSpPr txBox="1"/>
          <p:nvPr/>
        </p:nvSpPr>
        <p:spPr>
          <a:xfrm>
            <a:off x="6731000" y="2032000"/>
            <a:ext cx="46736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475569"/>
                </a:solidFill>
                <a:latin typeface="Inter"/>
              </a:rPr>
              <a:t>접속 주소
</a:t>
            </a:r>
            <a:r>
              <a:rPr lang="en" altLang="ko-KR" sz="1400" dirty="0">
                <a:solidFill>
                  <a:srgbClr val="475569"/>
                </a:solidFill>
                <a:latin typeface="Inter"/>
              </a:rPr>
              <a:t>https://</a:t>
            </a:r>
            <a:r>
              <a:rPr lang="en" altLang="ko-KR" sz="1400" dirty="0" err="1">
                <a:solidFill>
                  <a:srgbClr val="475569"/>
                </a:solidFill>
                <a:latin typeface="Inter"/>
              </a:rPr>
              <a:t>www.quest-on.app</a:t>
            </a:r>
            <a:r>
              <a:rPr lang="en-US" altLang="ko-KR" sz="1400" dirty="0">
                <a:solidFill>
                  <a:srgbClr val="475569"/>
                </a:solidFill>
                <a:latin typeface="Inter"/>
              </a:rPr>
              <a:t>
</a:t>
            </a:r>
            <a:r>
              <a:rPr lang="ko-KR" altLang="en-US" sz="1400" dirty="0">
                <a:solidFill>
                  <a:srgbClr val="475569"/>
                </a:solidFill>
                <a:latin typeface="Inter"/>
              </a:rPr>
              <a:t>시험 코드
교수자가 안내한 </a:t>
            </a:r>
            <a:r>
              <a:rPr lang="en-US" altLang="ko-KR" sz="1400" dirty="0">
                <a:solidFill>
                  <a:srgbClr val="475569"/>
                </a:solidFill>
                <a:latin typeface="Inter"/>
              </a:rPr>
              <a:t>6</a:t>
            </a:r>
            <a:r>
              <a:rPr lang="ko-KR" altLang="en-US" sz="1400" dirty="0">
                <a:solidFill>
                  <a:srgbClr val="475569"/>
                </a:solidFill>
                <a:latin typeface="Inter"/>
              </a:rPr>
              <a:t>자리 코드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AEC092D-512A-EF4D-A215-E9D5ECC1829F}"/>
              </a:ext>
            </a:extLst>
          </p:cNvPr>
          <p:cNvSpPr/>
          <p:nvPr/>
        </p:nvSpPr>
        <p:spPr>
          <a:xfrm>
            <a:off x="6477000" y="3873500"/>
            <a:ext cx="5181600" cy="1016000"/>
          </a:xfrm>
          <a:prstGeom prst="round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D7267A-7831-7E4F-AA57-28E192764CEC}"/>
              </a:ext>
            </a:extLst>
          </p:cNvPr>
          <p:cNvSpPr txBox="1"/>
          <p:nvPr/>
        </p:nvSpPr>
        <p:spPr>
          <a:xfrm>
            <a:off x="6731000" y="3975100"/>
            <a:ext cx="4673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6A34A"/>
                </a:solidFill>
                <a:latin typeface="Inter"/>
              </a:rPr>
              <a:t>💬  문의처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FEB247-F0C9-8243-A142-F1BF437A2FF4}"/>
              </a:ext>
            </a:extLst>
          </p:cNvPr>
          <p:cNvSpPr txBox="1"/>
          <p:nvPr/>
        </p:nvSpPr>
        <p:spPr>
          <a:xfrm>
            <a:off x="6731000" y="4318000"/>
            <a:ext cx="46736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Inter"/>
              </a:rPr>
              <a:t>이메일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: </a:t>
            </a:r>
            <a:r>
              <a:rPr lang="en" altLang="ko-KR" sz="1400">
                <a:solidFill>
                  <a:srgbClr val="475569"/>
                </a:solidFill>
                <a:latin typeface="Inter"/>
              </a:rPr>
              <a:t>questonkr@gmail.com  |  </a:t>
            </a:r>
            <a:r>
              <a:rPr lang="ko-KR" altLang="en-US" sz="1400">
                <a:solidFill>
                  <a:srgbClr val="475569"/>
                </a:solidFill>
                <a:latin typeface="Inter"/>
              </a:rPr>
              <a:t>전화</a:t>
            </a:r>
            <a:r>
              <a:rPr lang="en-US" altLang="ko-KR" sz="1400">
                <a:solidFill>
                  <a:srgbClr val="475569"/>
                </a:solidFill>
                <a:latin typeface="Inter"/>
              </a:rPr>
              <a:t>: 010-5096-8981</a:t>
            </a:r>
            <a:endParaRPr lang="ko-KR" altLang="en-US" sz="140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00E3A6B-868C-E944-9D87-F53727C77189}"/>
              </a:ext>
            </a:extLst>
          </p:cNvPr>
          <p:cNvSpPr/>
          <p:nvPr/>
        </p:nvSpPr>
        <p:spPr>
          <a:xfrm>
            <a:off x="533400" y="5143500"/>
            <a:ext cx="11125200" cy="698500"/>
          </a:xfrm>
          <a:prstGeom prst="roundRect">
            <a:avLst/>
          </a:prstGeom>
          <a:solidFill>
            <a:srgbClr val="3B5CC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688DBE-FC6E-EB4C-85C9-2CD7D9DC9402}"/>
              </a:ext>
            </a:extLst>
          </p:cNvPr>
          <p:cNvSpPr txBox="1"/>
          <p:nvPr/>
        </p:nvSpPr>
        <p:spPr>
          <a:xfrm>
            <a:off x="723900" y="5207000"/>
            <a:ext cx="10744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Inter"/>
              </a:rPr>
              <a:t>시험 준비 완료</a:t>
            </a:r>
            <a:r>
              <a:rPr lang="en-US" altLang="ko-KR" sz="2000" b="1">
                <a:solidFill>
                  <a:srgbClr val="FFFFFF"/>
                </a:solidFill>
                <a:latin typeface="Inter"/>
              </a:rPr>
              <a:t>! </a:t>
            </a:r>
            <a:r>
              <a:rPr lang="ko-KR" altLang="en-US" sz="2000" b="1">
                <a:solidFill>
                  <a:srgbClr val="FFFFFF"/>
                </a:solidFill>
                <a:latin typeface="Inter"/>
              </a:rPr>
              <a:t>좋은 결과가 있기를 바랍니다 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E96C5-5C86-FA4F-98CF-3BBF6D3869A5}"/>
              </a:ext>
            </a:extLst>
          </p:cNvPr>
          <p:cNvSpPr txBox="1"/>
          <p:nvPr/>
        </p:nvSpPr>
        <p:spPr>
          <a:xfrm>
            <a:off x="723900" y="5524500"/>
            <a:ext cx="107442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>
                <a:solidFill>
                  <a:srgbClr val="FFFFFF"/>
                </a:solidFill>
                <a:latin typeface="Inter"/>
              </a:rPr>
              <a:t>Quest-On</a:t>
            </a:r>
            <a:r>
              <a:rPr lang="ko-KR" altLang="en-US" sz="1400">
                <a:solidFill>
                  <a:srgbClr val="FFFFFF"/>
                </a:solidFill>
                <a:latin typeface="Inter"/>
              </a:rPr>
              <a:t>과 함께하는 </a:t>
            </a:r>
            <a:r>
              <a:rPr lang="en" altLang="ko-KR" sz="1400">
                <a:solidFill>
                  <a:srgbClr val="FFFFFF"/>
                </a:solidFill>
                <a:latin typeface="Inter"/>
              </a:rPr>
              <a:t>AI </a:t>
            </a:r>
            <a:r>
              <a:rPr lang="ko-KR" altLang="en-US" sz="1400">
                <a:solidFill>
                  <a:srgbClr val="FFFFFF"/>
                </a:solidFill>
                <a:latin typeface="Inter"/>
              </a:rPr>
              <a:t>시대의 새로운 평가를 경험하세요</a:t>
            </a:r>
          </a:p>
        </p:txBody>
      </p:sp>
    </p:spTree>
    <p:extLst>
      <p:ext uri="{BB962C8B-B14F-4D97-AF65-F5344CB8AC3E}">
        <p14:creationId xmlns:p14="http://schemas.microsoft.com/office/powerpoint/2010/main" val="336600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5540440706]">
  <a:themeElements>
    <a:clrScheme name="Quest-On">
      <a:dk1>
        <a:srgbClr val="1E293B"/>
      </a:dk1>
      <a:lt1>
        <a:srgbClr val="FFFFFF"/>
      </a:lt1>
      <a:dk2>
        <a:srgbClr val="334155"/>
      </a:dk2>
      <a:lt2>
        <a:srgbClr val="F1F5F9"/>
      </a:lt2>
      <a:accent1>
        <a:srgbClr val="3B5CC6"/>
      </a:accent1>
      <a:accent2>
        <a:srgbClr val="22C55E"/>
      </a:accent2>
      <a:accent3>
        <a:srgbClr val="F59E0B"/>
      </a:accent3>
      <a:accent4>
        <a:srgbClr val="57CDFF"/>
      </a:accent4>
      <a:accent5>
        <a:srgbClr val="EF4444"/>
      </a:accent5>
      <a:accent6>
        <a:srgbClr val="64748B"/>
      </a:accent6>
      <a:hlink>
        <a:srgbClr val="467886"/>
      </a:hlink>
      <a:folHlink>
        <a:srgbClr val="96607D"/>
      </a:folHlink>
    </a:clrScheme>
    <a:fontScheme name="Quest-On Fonts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AFEE5D-D0A3-3349-B73C-EB0DADE059D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212042a-14df-43a4-abc4-687d05c4d6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775</Words>
  <Application>Microsoft Macintosh PowerPoint</Application>
  <PresentationFormat>와이드스크린</PresentationFormat>
  <Paragraphs>126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Inter</vt:lpstr>
      <vt:lpstr>Arial</vt:lpstr>
      <vt:lpstr>Office 테마 [1775540440706]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Cigro</dc:creator>
  <cp:lastModifiedBy>Cigro</cp:lastModifiedBy>
  <cp:revision>7</cp:revision>
  <dcterms:created xsi:type="dcterms:W3CDTF">2026-04-07T05:12:08Z</dcterms:created>
  <dcterms:modified xsi:type="dcterms:W3CDTF">2026-04-07T14:19:55Z</dcterms:modified>
</cp:coreProperties>
</file>